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メイン画面" id="{74B1D569-6EEA-47CB-9133-D425BF259BA3}">
          <p14:sldIdLst>
            <p14:sldId id="257"/>
          </p14:sldIdLst>
        </p14:section>
        <p14:section name="発注管理画面" id="{68EEFF08-7937-455C-A60C-A046C816EFD6}">
          <p14:sldIdLst>
            <p14:sldId id="258"/>
          </p14:sldIdLst>
        </p14:section>
        <p14:section name="入出庫管理画面" id="{D95AA563-0857-4DC0-96BA-4946129BBF80}">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FFCC"/>
    <a:srgbClr val="FFFF99"/>
    <a:srgbClr val="FEA9A0"/>
    <a:srgbClr val="FF7C8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94660"/>
  </p:normalViewPr>
  <p:slideViewPr>
    <p:cSldViewPr snapToGrid="0">
      <p:cViewPr varScale="1">
        <p:scale>
          <a:sx n="90" d="100"/>
          <a:sy n="90" d="100"/>
        </p:scale>
        <p:origin x="36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1A4DBA-03D4-CF39-8642-92FEE47E5F5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E4219CC-D566-FECB-E624-74B4937EB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64F65D-C16D-2EA4-22D7-9228436A2E55}"/>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E23ACF68-0ADA-FD91-7DDE-1BB1F61E0D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70C75C-CDC2-7D49-8D04-8E8AAD473FCF}"/>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1901098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B8BA7E-3F2A-80BF-E3E8-59CD3F0EBB1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A967AA-99C1-C5B7-EDBD-52034AA578A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6C26F8-DAF1-1A04-3218-352E365618AF}"/>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464F3D55-38FF-BD31-D838-AC9718B0BD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84EE04-A40A-B7F2-6D1A-21863325DDD3}"/>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1296438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63C982-FD08-226F-F9F1-A5F7E41C91A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97EEC1-DE37-B3D9-739E-BC68487D55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552EEA8-3493-ABD7-1098-38C85D9DCDF0}"/>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CA41F79C-A1AB-B73F-F5C6-2B58B68B66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7388D8-9708-5326-B669-0E666C98D25A}"/>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2748084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9111A8-0C04-997F-C6D5-386D9496F6A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43F2C99-7502-A404-7D17-1A1321CF52C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E29B076-FB83-DA01-55B3-F1D26666B6C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81D37BF-828D-05D2-ADA4-60EEE980575D}"/>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97E739D7-64CB-C06E-E63D-C3A2FD6094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A1FB906-5F34-5CF4-E9E6-F5FD9397418F}"/>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3418888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9923E0-7964-FEB4-0994-4AD0A3289EC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3E34A8C-B0C2-F66D-781C-037991562C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AC2F1D7-29D9-93A5-C482-46D4A5419C1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D74B845-6832-5336-7BA0-DEFD864726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6AE5A4B-B0E9-634D-E269-A0CC2067FE3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AF9AE2D-F661-9F8B-70B1-81064A12FB0E}"/>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8" name="フッター プレースホルダー 7">
            <a:extLst>
              <a:ext uri="{FF2B5EF4-FFF2-40B4-BE49-F238E27FC236}">
                <a16:creationId xmlns:a16="http://schemas.microsoft.com/office/drawing/2014/main" id="{26F7E82C-B9C3-00F4-CEAF-AF688429969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0861B16-B23C-661C-29B1-3DD893C7D692}"/>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285422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06BECD-E8CB-B158-440C-A4DF225AFBB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D3807A0-19EC-F227-39B6-C15EBBEFC78C}"/>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4" name="フッター プレースホルダー 3">
            <a:extLst>
              <a:ext uri="{FF2B5EF4-FFF2-40B4-BE49-F238E27FC236}">
                <a16:creationId xmlns:a16="http://schemas.microsoft.com/office/drawing/2014/main" id="{802E19B9-4B9D-4A85-1B1A-096099D1266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557F88B-6154-475F-C11D-E7646A94BB48}"/>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3161350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D922B83-F430-F853-3EA1-3EB97A9481FE}"/>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3" name="フッター プレースホルダー 2">
            <a:extLst>
              <a:ext uri="{FF2B5EF4-FFF2-40B4-BE49-F238E27FC236}">
                <a16:creationId xmlns:a16="http://schemas.microsoft.com/office/drawing/2014/main" id="{E9E59C94-50BF-FABA-7A7C-05F6D7CD534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F8D6EAF-6DD9-7992-D4B5-53247DB42F78}"/>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427941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88FB93-0EBF-1130-0F99-D48B463EB13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A3D1B9-9568-34B4-26D7-B677C9F21F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9BB17DF-71EB-4B2B-B0D5-B985DC4511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B4A6CE-8BE0-9D45-77D3-17A5B614C5F2}"/>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F13899D2-563D-B095-E58C-A74653E7869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644F369-ACC5-ED0C-868A-6783DDB39B6B}"/>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1233304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729271-5F3A-9520-A1B4-F63B7CA75B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D0DACB5-1D13-548A-8CE8-E6AFF7007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0D4333C-3E8C-0787-0F43-AF526118C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AAFC0A7-C6FF-D15C-1787-8DEC8F93696E}"/>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EE0DA1D6-A3CE-764F-DB0E-022A0A1DB2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4AB0253-02B5-6C12-86E4-9DD393ABBC92}"/>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2840398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CBE01E-CCC1-F1FC-FE94-83C6EE4846B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8AEEB39-093D-F9D4-E152-9EFF34941F7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C8A7DD8-2217-2246-4FD2-F1FB18945A07}"/>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4AE9C959-908B-2B58-9DF7-BC860D0AA3F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58E8E1-5848-9670-5AF8-373BB31B396D}"/>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2253437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8D1E922-9982-5220-49D1-6ABB7C3CAFE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644D51E-D424-5422-5673-535E3E0F474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9A3560-0C0D-EEA8-8668-B867C3813DCC}"/>
              </a:ext>
            </a:extLst>
          </p:cNvPr>
          <p:cNvSpPr>
            <a:spLocks noGrp="1"/>
          </p:cNvSpPr>
          <p:nvPr>
            <p:ph type="dt" sz="half" idx="10"/>
          </p:nvPr>
        </p:nvSpPr>
        <p:spPr/>
        <p:txBody>
          <a:bodyPr/>
          <a:lstStyle/>
          <a:p>
            <a:fld id="{FB2853B5-1CD0-4319-AEEE-BB587645C045}"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34CB6E8D-DB84-F699-9041-CA6AB52620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34CC76C-53D6-0F53-DD5B-9FD74032FD78}"/>
              </a:ext>
            </a:extLst>
          </p:cNvPr>
          <p:cNvSpPr>
            <a:spLocks noGrp="1"/>
          </p:cNvSpPr>
          <p:nvPr>
            <p:ph type="sldNum" sz="quarter" idx="12"/>
          </p:nvPr>
        </p:nvSpPr>
        <p:spPr/>
        <p:txBody>
          <a:body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1588294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2A54A0A-4E90-0049-2AD8-493072FCDA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CBDF87F-CC8A-C74D-FBF8-5D0A4ABDD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750E6E-153A-478E-8993-CC1F7CEA5F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2853B5-1CD0-4319-AEEE-BB587645C045}"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94F13ABF-3F7E-084A-99FE-9D00209FF0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92ACE61-C6A9-2252-BC2F-8D8B5B33F7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3B96B9-ABD2-481A-ADC6-F79AD2EEDE68}" type="slidenum">
              <a:rPr kumimoji="1" lang="ja-JP" altLang="en-US" smtClean="0"/>
              <a:t>‹#›</a:t>
            </a:fld>
            <a:endParaRPr kumimoji="1" lang="ja-JP" altLang="en-US"/>
          </a:p>
        </p:txBody>
      </p:sp>
    </p:spTree>
    <p:extLst>
      <p:ext uri="{BB962C8B-B14F-4D97-AF65-F5344CB8AC3E}">
        <p14:creationId xmlns:p14="http://schemas.microsoft.com/office/powerpoint/2010/main" val="25816513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DE5816-7B57-56F6-0998-A6104DA02F40}"/>
              </a:ext>
            </a:extLst>
          </p:cNvPr>
          <p:cNvSpPr>
            <a:spLocks noGrp="1"/>
          </p:cNvSpPr>
          <p:nvPr>
            <p:ph type="title"/>
          </p:nvPr>
        </p:nvSpPr>
        <p:spPr>
          <a:xfrm>
            <a:off x="0" y="0"/>
            <a:ext cx="12191999" cy="541867"/>
          </a:xfrm>
          <a:solidFill>
            <a:srgbClr val="FFFF66"/>
          </a:solidFill>
        </p:spPr>
        <p:txBody>
          <a:bodyPr>
            <a:noAutofit/>
          </a:bodyPr>
          <a:lstStyle/>
          <a:p>
            <a:pPr algn="ctr"/>
            <a:r>
              <a:rPr kumimoji="1" lang="ja-JP" altLang="en-US" sz="2000" b="1" dirty="0">
                <a:latin typeface="BIZ UDゴシック" panose="020B0400000000000000" pitchFamily="49" charset="-128"/>
                <a:ea typeface="BIZ UDゴシック" panose="020B0400000000000000" pitchFamily="49" charset="-128"/>
              </a:rPr>
              <a:t>メインメニュー</a:t>
            </a:r>
          </a:p>
        </p:txBody>
      </p:sp>
      <p:sp>
        <p:nvSpPr>
          <p:cNvPr id="3" name="タイトル 1">
            <a:extLst>
              <a:ext uri="{FF2B5EF4-FFF2-40B4-BE49-F238E27FC236}">
                <a16:creationId xmlns:a16="http://schemas.microsoft.com/office/drawing/2014/main" id="{6D109443-1D25-65B7-8647-C9EDAC618243}"/>
              </a:ext>
            </a:extLst>
          </p:cNvPr>
          <p:cNvSpPr txBox="1">
            <a:spLocks/>
          </p:cNvSpPr>
          <p:nvPr/>
        </p:nvSpPr>
        <p:spPr>
          <a:xfrm>
            <a:off x="10676466" y="270933"/>
            <a:ext cx="1312335" cy="270933"/>
          </a:xfrm>
          <a:prstGeom prst="rect">
            <a:avLst/>
          </a:prstGeom>
          <a:solidFill>
            <a:srgbClr val="FFFF00"/>
          </a:solidFill>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1400" b="1" dirty="0">
                <a:latin typeface="BIZ UDゴシック" panose="020B0400000000000000" pitchFamily="49" charset="-128"/>
                <a:ea typeface="BIZ UDゴシック" panose="020B0400000000000000" pitchFamily="49" charset="-128"/>
              </a:rPr>
              <a:t>〇〇 〇〇 様</a:t>
            </a:r>
          </a:p>
        </p:txBody>
      </p:sp>
      <p:sp>
        <p:nvSpPr>
          <p:cNvPr id="4" name="テキスト ボックス 3">
            <a:extLst>
              <a:ext uri="{FF2B5EF4-FFF2-40B4-BE49-F238E27FC236}">
                <a16:creationId xmlns:a16="http://schemas.microsoft.com/office/drawing/2014/main" id="{275D38C5-182B-7604-C407-1337E0CA465D}"/>
              </a:ext>
            </a:extLst>
          </p:cNvPr>
          <p:cNvSpPr txBox="1"/>
          <p:nvPr/>
        </p:nvSpPr>
        <p:spPr>
          <a:xfrm>
            <a:off x="127000" y="694267"/>
            <a:ext cx="3381743" cy="6001643"/>
          </a:xfrm>
          <a:prstGeom prst="rect">
            <a:avLst/>
          </a:prstGeom>
          <a:solidFill>
            <a:srgbClr val="FFFF66"/>
          </a:solidFill>
        </p:spPr>
        <p:txBody>
          <a:bodyPr wrap="square" rtlCol="0">
            <a:spAutoFit/>
          </a:bodyPr>
          <a:lstStyle/>
          <a:p>
            <a:r>
              <a:rPr kumimoji="1" lang="ja-JP" altLang="en-US" sz="1400" b="1" dirty="0">
                <a:latin typeface="BIZ UDゴシック" panose="020B0400000000000000" pitchFamily="49" charset="-128"/>
                <a:ea typeface="BIZ UDゴシック" panose="020B0400000000000000" pitchFamily="49" charset="-128"/>
              </a:rPr>
              <a:t>業務ツール</a:t>
            </a:r>
            <a:endParaRPr kumimoji="1" lang="en-US" altLang="ja-JP" sz="1400" b="1"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p:txBody>
      </p:sp>
      <p:sp>
        <p:nvSpPr>
          <p:cNvPr id="5" name="テキスト ボックス 4">
            <a:extLst>
              <a:ext uri="{FF2B5EF4-FFF2-40B4-BE49-F238E27FC236}">
                <a16:creationId xmlns:a16="http://schemas.microsoft.com/office/drawing/2014/main" id="{6881CC4C-AB6F-63CE-5879-61468F5B3063}"/>
              </a:ext>
            </a:extLst>
          </p:cNvPr>
          <p:cNvSpPr txBox="1"/>
          <p:nvPr/>
        </p:nvSpPr>
        <p:spPr>
          <a:xfrm>
            <a:off x="203199" y="1068401"/>
            <a:ext cx="3124791" cy="307777"/>
          </a:xfrm>
          <a:prstGeom prst="rect">
            <a:avLst/>
          </a:prstGeom>
          <a:solidFill>
            <a:srgbClr val="FFFFCC"/>
          </a:solidFill>
        </p:spPr>
        <p:txBody>
          <a:bodyPr wrap="square" rtlCol="0">
            <a:spAutoFit/>
          </a:bodyPr>
          <a:lstStyle/>
          <a:p>
            <a:r>
              <a:rPr kumimoji="1" lang="ja-JP" altLang="en-US" sz="1400" dirty="0"/>
              <a:t>在庫管理</a:t>
            </a:r>
          </a:p>
        </p:txBody>
      </p:sp>
      <p:sp>
        <p:nvSpPr>
          <p:cNvPr id="6" name="テキスト ボックス 5">
            <a:extLst>
              <a:ext uri="{FF2B5EF4-FFF2-40B4-BE49-F238E27FC236}">
                <a16:creationId xmlns:a16="http://schemas.microsoft.com/office/drawing/2014/main" id="{7074525D-89C2-3F7C-8D54-5D8CD9F99E79}"/>
              </a:ext>
            </a:extLst>
          </p:cNvPr>
          <p:cNvSpPr txBox="1"/>
          <p:nvPr/>
        </p:nvSpPr>
        <p:spPr>
          <a:xfrm>
            <a:off x="203198" y="1475208"/>
            <a:ext cx="3124789" cy="954107"/>
          </a:xfrm>
          <a:prstGeom prst="rect">
            <a:avLst/>
          </a:prstGeom>
          <a:solidFill>
            <a:srgbClr val="FFFFCC"/>
          </a:solidFill>
        </p:spPr>
        <p:txBody>
          <a:bodyPr wrap="square" rtlCol="0">
            <a:spAutoFit/>
          </a:bodyPr>
          <a:lstStyle/>
          <a:p>
            <a:r>
              <a:rPr lang="ja-JP" altLang="en-US" sz="1400" dirty="0"/>
              <a:t>商品発注</a:t>
            </a:r>
            <a:endParaRPr lang="en-US" altLang="ja-JP" sz="1400" dirty="0"/>
          </a:p>
          <a:p>
            <a:r>
              <a:rPr lang="ja-JP" altLang="en-US" sz="1400" dirty="0"/>
              <a:t>　ー 発注管理</a:t>
            </a:r>
            <a:endParaRPr lang="en-US" altLang="ja-JP" sz="1400" dirty="0"/>
          </a:p>
          <a:p>
            <a:r>
              <a:rPr kumimoji="1" lang="ja-JP" altLang="en-US" sz="1400" dirty="0"/>
              <a:t>　ー 発注履歴</a:t>
            </a:r>
            <a:endParaRPr kumimoji="1" lang="en-US" altLang="ja-JP" sz="1400" dirty="0"/>
          </a:p>
          <a:p>
            <a:r>
              <a:rPr lang="ja-JP" altLang="en-US" sz="1400" dirty="0"/>
              <a:t>　ー 在庫閾値設定</a:t>
            </a:r>
            <a:endParaRPr kumimoji="1" lang="ja-JP" altLang="en-US" sz="1400" dirty="0"/>
          </a:p>
        </p:txBody>
      </p:sp>
      <p:sp>
        <p:nvSpPr>
          <p:cNvPr id="7" name="テキスト ボックス 6">
            <a:extLst>
              <a:ext uri="{FF2B5EF4-FFF2-40B4-BE49-F238E27FC236}">
                <a16:creationId xmlns:a16="http://schemas.microsoft.com/office/drawing/2014/main" id="{D1D3989E-58D4-CD43-9B7D-93601A8D38DB}"/>
              </a:ext>
            </a:extLst>
          </p:cNvPr>
          <p:cNvSpPr txBox="1"/>
          <p:nvPr/>
        </p:nvSpPr>
        <p:spPr>
          <a:xfrm>
            <a:off x="203197" y="2935152"/>
            <a:ext cx="3124790" cy="307777"/>
          </a:xfrm>
          <a:prstGeom prst="rect">
            <a:avLst/>
          </a:prstGeom>
          <a:solidFill>
            <a:srgbClr val="FFFFCC"/>
          </a:solidFill>
        </p:spPr>
        <p:txBody>
          <a:bodyPr wrap="square" rtlCol="0">
            <a:spAutoFit/>
          </a:bodyPr>
          <a:lstStyle/>
          <a:p>
            <a:r>
              <a:rPr kumimoji="1" lang="ja-JP" altLang="en-US" sz="1400" dirty="0"/>
              <a:t>賞味期限・消費期限管理</a:t>
            </a:r>
          </a:p>
        </p:txBody>
      </p:sp>
      <p:sp>
        <p:nvSpPr>
          <p:cNvPr id="8" name="テキスト ボックス 7">
            <a:extLst>
              <a:ext uri="{FF2B5EF4-FFF2-40B4-BE49-F238E27FC236}">
                <a16:creationId xmlns:a16="http://schemas.microsoft.com/office/drawing/2014/main" id="{2FB13409-9C42-2CCF-C127-F09C28F1AB0E}"/>
              </a:ext>
            </a:extLst>
          </p:cNvPr>
          <p:cNvSpPr txBox="1"/>
          <p:nvPr/>
        </p:nvSpPr>
        <p:spPr>
          <a:xfrm>
            <a:off x="203197" y="3341959"/>
            <a:ext cx="3124790" cy="1384995"/>
          </a:xfrm>
          <a:prstGeom prst="rect">
            <a:avLst/>
          </a:prstGeom>
          <a:solidFill>
            <a:srgbClr val="FFFFCC"/>
          </a:solidFill>
        </p:spPr>
        <p:txBody>
          <a:bodyPr wrap="square" rtlCol="0">
            <a:spAutoFit/>
          </a:bodyPr>
          <a:lstStyle/>
          <a:p>
            <a:r>
              <a:rPr lang="ja-JP" altLang="en-US" sz="1400" dirty="0"/>
              <a:t>レポート</a:t>
            </a:r>
            <a:endParaRPr lang="en-US" altLang="ja-JP" sz="1400" dirty="0"/>
          </a:p>
          <a:p>
            <a:r>
              <a:rPr kumimoji="1" lang="ja-JP" altLang="en-US" sz="1400" dirty="0"/>
              <a:t>　ー 在庫状況</a:t>
            </a:r>
            <a:endParaRPr kumimoji="1" lang="en-US" altLang="ja-JP" sz="1400" dirty="0"/>
          </a:p>
          <a:p>
            <a:r>
              <a:rPr lang="ja-JP" altLang="en-US" sz="1400" dirty="0"/>
              <a:t>　ー 在庫回転率</a:t>
            </a:r>
            <a:endParaRPr lang="en-US" altLang="ja-JP" sz="1400" dirty="0"/>
          </a:p>
          <a:p>
            <a:r>
              <a:rPr kumimoji="1" lang="ja-JP" altLang="en-US" sz="1400" dirty="0"/>
              <a:t>　ー 売れ筋商品</a:t>
            </a:r>
            <a:endParaRPr kumimoji="1" lang="en-US" altLang="ja-JP" sz="1400" dirty="0"/>
          </a:p>
          <a:p>
            <a:r>
              <a:rPr lang="ja-JP" altLang="en-US" sz="1400" dirty="0"/>
              <a:t>　ー 死に筋商品</a:t>
            </a:r>
            <a:endParaRPr lang="en-US" altLang="ja-JP" sz="1400" dirty="0"/>
          </a:p>
          <a:p>
            <a:r>
              <a:rPr kumimoji="1" lang="ja-JP" altLang="en-US" sz="1400" dirty="0"/>
              <a:t>　ー 季節商品の需要予測　</a:t>
            </a:r>
          </a:p>
        </p:txBody>
      </p:sp>
      <p:sp>
        <p:nvSpPr>
          <p:cNvPr id="9" name="テキスト ボックス 8">
            <a:extLst>
              <a:ext uri="{FF2B5EF4-FFF2-40B4-BE49-F238E27FC236}">
                <a16:creationId xmlns:a16="http://schemas.microsoft.com/office/drawing/2014/main" id="{8F300B70-B748-49C5-3685-7EE3C999BDBF}"/>
              </a:ext>
            </a:extLst>
          </p:cNvPr>
          <p:cNvSpPr txBox="1"/>
          <p:nvPr/>
        </p:nvSpPr>
        <p:spPr>
          <a:xfrm>
            <a:off x="203197" y="2528345"/>
            <a:ext cx="3124790" cy="307777"/>
          </a:xfrm>
          <a:prstGeom prst="rect">
            <a:avLst/>
          </a:prstGeom>
          <a:solidFill>
            <a:srgbClr val="FFFFCC"/>
          </a:solidFill>
        </p:spPr>
        <p:txBody>
          <a:bodyPr wrap="square" rtlCol="0">
            <a:spAutoFit/>
          </a:bodyPr>
          <a:lstStyle/>
          <a:p>
            <a:r>
              <a:rPr kumimoji="1" lang="ja-JP" altLang="en-US" sz="1400" dirty="0"/>
              <a:t>入出庫管理</a:t>
            </a:r>
            <a:endParaRPr kumimoji="1" lang="en-US" altLang="ja-JP" sz="1400" dirty="0"/>
          </a:p>
        </p:txBody>
      </p:sp>
      <p:sp>
        <p:nvSpPr>
          <p:cNvPr id="10" name="テキスト ボックス 9">
            <a:extLst>
              <a:ext uri="{FF2B5EF4-FFF2-40B4-BE49-F238E27FC236}">
                <a16:creationId xmlns:a16="http://schemas.microsoft.com/office/drawing/2014/main" id="{3F24697C-D3E7-F218-BAAE-6B013EA591DC}"/>
              </a:ext>
            </a:extLst>
          </p:cNvPr>
          <p:cNvSpPr txBox="1"/>
          <p:nvPr/>
        </p:nvSpPr>
        <p:spPr>
          <a:xfrm>
            <a:off x="3623733" y="694267"/>
            <a:ext cx="8365068" cy="861774"/>
          </a:xfrm>
          <a:prstGeom prst="rect">
            <a:avLst/>
          </a:prstGeom>
          <a:solidFill>
            <a:srgbClr val="FEA9A0"/>
          </a:solidFill>
        </p:spPr>
        <p:txBody>
          <a:bodyPr wrap="square" rtlCol="0">
            <a:spAutoFit/>
          </a:bodyPr>
          <a:lstStyle/>
          <a:p>
            <a:r>
              <a:rPr kumimoji="1" lang="en-US" altLang="ja-JP" sz="1600" b="1" dirty="0"/>
              <a:t>※</a:t>
            </a:r>
            <a:r>
              <a:rPr kumimoji="1" lang="ja-JP" altLang="en-US" sz="1600" b="1" dirty="0"/>
              <a:t>要対応</a:t>
            </a:r>
            <a:r>
              <a:rPr kumimoji="1" lang="en-US" altLang="ja-JP" sz="1600" b="1" dirty="0"/>
              <a:t>※</a:t>
            </a:r>
          </a:p>
          <a:p>
            <a:endParaRPr lang="en-US" altLang="ja-JP" sz="1600" b="1" dirty="0"/>
          </a:p>
          <a:p>
            <a:r>
              <a:rPr kumimoji="1" lang="ja-JP" altLang="en-US" sz="1600" b="1" dirty="0"/>
              <a:t>□□店舗より</a:t>
            </a:r>
            <a:r>
              <a:rPr lang="en-US" altLang="ja-JP" sz="1600" b="1" dirty="0"/>
              <a:t>〈</a:t>
            </a:r>
            <a:r>
              <a:rPr lang="ja-JP" altLang="en-US" sz="1600" b="1" dirty="0"/>
              <a:t>商品名</a:t>
            </a:r>
            <a:r>
              <a:rPr lang="en-US" altLang="ja-JP" sz="1600" b="1" dirty="0"/>
              <a:t>〉</a:t>
            </a:r>
            <a:r>
              <a:rPr lang="ja-JP" altLang="en-US" sz="1600" b="1" dirty="0"/>
              <a:t>の</a:t>
            </a:r>
            <a:r>
              <a:rPr kumimoji="1" lang="ja-JP" altLang="en-US" sz="1600" b="1" dirty="0"/>
              <a:t>出荷依頼がありました。対応をお願いします。</a:t>
            </a:r>
          </a:p>
        </p:txBody>
      </p:sp>
      <p:sp>
        <p:nvSpPr>
          <p:cNvPr id="11" name="テキスト ボックス 10">
            <a:extLst>
              <a:ext uri="{FF2B5EF4-FFF2-40B4-BE49-F238E27FC236}">
                <a16:creationId xmlns:a16="http://schemas.microsoft.com/office/drawing/2014/main" id="{01E19644-074A-FF6B-CB91-B04D3D2F6C59}"/>
              </a:ext>
            </a:extLst>
          </p:cNvPr>
          <p:cNvSpPr txBox="1"/>
          <p:nvPr/>
        </p:nvSpPr>
        <p:spPr>
          <a:xfrm>
            <a:off x="3623733" y="1752600"/>
            <a:ext cx="8365068" cy="646331"/>
          </a:xfrm>
          <a:prstGeom prst="rect">
            <a:avLst/>
          </a:prstGeom>
          <a:noFill/>
        </p:spPr>
        <p:txBody>
          <a:bodyPr wrap="square" rtlCol="0">
            <a:spAutoFit/>
          </a:bodyPr>
          <a:lstStyle/>
          <a:p>
            <a:r>
              <a:rPr kumimoji="1" lang="ja-JP" altLang="en-US" dirty="0"/>
              <a:t>■お知らせ一覧■</a:t>
            </a:r>
            <a:endParaRPr kumimoji="1" lang="en-US" altLang="ja-JP" dirty="0"/>
          </a:p>
          <a:p>
            <a:endParaRPr kumimoji="1" lang="ja-JP" altLang="en-US" dirty="0"/>
          </a:p>
        </p:txBody>
      </p:sp>
      <p:sp>
        <p:nvSpPr>
          <p:cNvPr id="14" name="正方形/長方形 13">
            <a:extLst>
              <a:ext uri="{FF2B5EF4-FFF2-40B4-BE49-F238E27FC236}">
                <a16:creationId xmlns:a16="http://schemas.microsoft.com/office/drawing/2014/main" id="{B7A64388-71AE-8E64-7DFE-BF57A7F1258B}"/>
              </a:ext>
            </a:extLst>
          </p:cNvPr>
          <p:cNvSpPr/>
          <p:nvPr/>
        </p:nvSpPr>
        <p:spPr>
          <a:xfrm>
            <a:off x="3623733" y="2154800"/>
            <a:ext cx="8365068" cy="1426600"/>
          </a:xfrm>
          <a:prstGeom prst="rect">
            <a:avLst/>
          </a:prstGeom>
          <a:solidFill>
            <a:schemeClr val="bg1"/>
          </a:solidFill>
          <a:ln w="9525"/>
        </p:spPr>
        <p:style>
          <a:lnRef idx="2">
            <a:schemeClr val="dk1"/>
          </a:lnRef>
          <a:fillRef idx="1">
            <a:schemeClr val="lt1"/>
          </a:fillRef>
          <a:effectRef idx="0">
            <a:schemeClr val="dk1"/>
          </a:effectRef>
          <a:fontRef idx="minor">
            <a:schemeClr val="dk1"/>
          </a:fontRef>
        </p:style>
        <p:txBody>
          <a:bodyPr rtlCol="0" anchor="ctr"/>
          <a:lstStyle/>
          <a:p>
            <a:r>
              <a:rPr lang="ja-JP" altLang="en-US" sz="1600" dirty="0">
                <a:highlight>
                  <a:srgbClr val="C0C0C0"/>
                </a:highlight>
              </a:rPr>
              <a:t>ゴールデンウイーク期間の出荷スケジュール</a:t>
            </a:r>
            <a:endParaRPr lang="en-US" altLang="ja-JP" sz="1600" dirty="0">
              <a:highlight>
                <a:srgbClr val="C0C0C0"/>
              </a:highlight>
            </a:endParaRPr>
          </a:p>
          <a:p>
            <a:r>
              <a:rPr lang="ja-JP" altLang="en-US" dirty="0"/>
              <a:t>　</a:t>
            </a:r>
            <a:endParaRPr lang="en-US" altLang="ja-JP" dirty="0"/>
          </a:p>
          <a:p>
            <a:r>
              <a:rPr lang="ja-JP" altLang="en-US" dirty="0"/>
              <a:t>　</a:t>
            </a:r>
            <a:r>
              <a:rPr lang="ja-JP" altLang="en-US" sz="1200" dirty="0"/>
              <a:t>〇出荷停止期間：</a:t>
            </a:r>
            <a:r>
              <a:rPr lang="en-US" altLang="ja-JP" sz="1200" dirty="0"/>
              <a:t>5/2</a:t>
            </a:r>
            <a:r>
              <a:rPr lang="ja-JP" altLang="en-US" sz="1200" dirty="0"/>
              <a:t>（土）～</a:t>
            </a:r>
            <a:r>
              <a:rPr lang="en-US" altLang="ja-JP" sz="1200" dirty="0"/>
              <a:t>5/6</a:t>
            </a:r>
            <a:r>
              <a:rPr lang="ja-JP" altLang="en-US" sz="1200" dirty="0"/>
              <a:t>（水）</a:t>
            </a:r>
            <a:endParaRPr lang="en-US" altLang="ja-JP" sz="1200" dirty="0"/>
          </a:p>
          <a:p>
            <a:endParaRPr lang="en-US" altLang="ja-JP" sz="1200" dirty="0"/>
          </a:p>
          <a:p>
            <a:r>
              <a:rPr lang="ja-JP" altLang="en-US" sz="1200" dirty="0"/>
              <a:t>上記期間中は倉庫からの出荷を停止します。</a:t>
            </a:r>
            <a:endParaRPr lang="en-US" altLang="ja-JP" sz="1200" dirty="0"/>
          </a:p>
          <a:p>
            <a:r>
              <a:rPr lang="ja-JP" altLang="en-US" sz="1200" dirty="0"/>
              <a:t>お急ぎの場合は事前にご注文いただきますよう宜しくお願い申し上げます。</a:t>
            </a:r>
          </a:p>
        </p:txBody>
      </p:sp>
    </p:spTree>
    <p:extLst>
      <p:ext uri="{BB962C8B-B14F-4D97-AF65-F5344CB8AC3E}">
        <p14:creationId xmlns:p14="http://schemas.microsoft.com/office/powerpoint/2010/main" val="316383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7DEE-79CE-906B-E4AD-B7C2217A10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5D6E64-67E5-A54D-8B38-FE31CA38D638}"/>
              </a:ext>
            </a:extLst>
          </p:cNvPr>
          <p:cNvSpPr>
            <a:spLocks noGrp="1"/>
          </p:cNvSpPr>
          <p:nvPr>
            <p:ph type="title"/>
          </p:nvPr>
        </p:nvSpPr>
        <p:spPr>
          <a:xfrm>
            <a:off x="0" y="1"/>
            <a:ext cx="12192000" cy="457199"/>
          </a:xfrm>
          <a:solidFill>
            <a:srgbClr val="FFFF66"/>
          </a:solidFill>
        </p:spPr>
        <p:txBody>
          <a:bodyPr>
            <a:noAutofit/>
          </a:bodyPr>
          <a:lstStyle/>
          <a:p>
            <a:pPr algn="ctr"/>
            <a:r>
              <a:rPr kumimoji="1" lang="ja-JP" altLang="en-US" sz="2000" b="1" dirty="0">
                <a:latin typeface="BIZ UDゴシック" panose="020B0400000000000000" pitchFamily="49" charset="-128"/>
                <a:ea typeface="BIZ UDゴシック" panose="020B0400000000000000" pitchFamily="49" charset="-128"/>
              </a:rPr>
              <a:t>発注管理</a:t>
            </a:r>
          </a:p>
        </p:txBody>
      </p:sp>
      <p:sp>
        <p:nvSpPr>
          <p:cNvPr id="7" name="テキスト ボックス 6">
            <a:extLst>
              <a:ext uri="{FF2B5EF4-FFF2-40B4-BE49-F238E27FC236}">
                <a16:creationId xmlns:a16="http://schemas.microsoft.com/office/drawing/2014/main" id="{E70145F2-7DB2-0624-1FC9-F0D21CDD7C61}"/>
              </a:ext>
            </a:extLst>
          </p:cNvPr>
          <p:cNvSpPr txBox="1"/>
          <p:nvPr/>
        </p:nvSpPr>
        <p:spPr>
          <a:xfrm>
            <a:off x="59268" y="601134"/>
            <a:ext cx="1651000" cy="6186309"/>
          </a:xfrm>
          <a:prstGeom prst="rect">
            <a:avLst/>
          </a:prstGeom>
          <a:solidFill>
            <a:srgbClr val="FFFF66"/>
          </a:solidFill>
        </p:spPr>
        <p:txBody>
          <a:bodyPr wrap="square" rtlCol="0">
            <a:spAutoFit/>
          </a:bodyPr>
          <a:lstStyle/>
          <a:p>
            <a:r>
              <a:rPr lang="en-US" altLang="ja-JP" sz="1400" b="1" dirty="0">
                <a:latin typeface="BIZ UDゴシック" panose="020B0400000000000000" pitchFamily="49" charset="-128"/>
                <a:ea typeface="BIZ UDゴシック" panose="020B0400000000000000" pitchFamily="49" charset="-128"/>
              </a:rPr>
              <a:t>〈</a:t>
            </a:r>
            <a:r>
              <a:rPr lang="ja-JP" altLang="en-US" sz="1400" b="1" dirty="0">
                <a:latin typeface="BIZ UDゴシック" panose="020B0400000000000000" pitchFamily="49" charset="-128"/>
                <a:ea typeface="BIZ UDゴシック" panose="020B0400000000000000" pitchFamily="49" charset="-128"/>
              </a:rPr>
              <a:t>カテゴリー</a:t>
            </a:r>
            <a:r>
              <a:rPr lang="en-US" altLang="ja-JP" sz="1400" b="1" dirty="0">
                <a:latin typeface="BIZ UDゴシック" panose="020B0400000000000000" pitchFamily="49" charset="-128"/>
                <a:ea typeface="BIZ UDゴシック" panose="020B0400000000000000" pitchFamily="49" charset="-128"/>
              </a:rPr>
              <a:t>〉</a:t>
            </a:r>
          </a:p>
          <a:p>
            <a:endParaRPr kumimoji="1" lang="en-US" altLang="ja-JP" sz="1400" b="1"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p:txBody>
      </p:sp>
      <p:sp>
        <p:nvSpPr>
          <p:cNvPr id="8" name="テキスト ボックス 7">
            <a:extLst>
              <a:ext uri="{FF2B5EF4-FFF2-40B4-BE49-F238E27FC236}">
                <a16:creationId xmlns:a16="http://schemas.microsoft.com/office/drawing/2014/main" id="{96613877-20AB-5F4A-EC32-BDB8F48DBD2D}"/>
              </a:ext>
            </a:extLst>
          </p:cNvPr>
          <p:cNvSpPr txBox="1"/>
          <p:nvPr/>
        </p:nvSpPr>
        <p:spPr>
          <a:xfrm>
            <a:off x="126999" y="907534"/>
            <a:ext cx="1524001" cy="307777"/>
          </a:xfrm>
          <a:prstGeom prst="rect">
            <a:avLst/>
          </a:prstGeom>
          <a:solidFill>
            <a:srgbClr val="FFFFCC"/>
          </a:solidFill>
        </p:spPr>
        <p:txBody>
          <a:bodyPr wrap="square" rtlCol="0">
            <a:spAutoFit/>
          </a:bodyPr>
          <a:lstStyle/>
          <a:p>
            <a:r>
              <a:rPr lang="ja-JP" altLang="en-US" sz="1400" dirty="0"/>
              <a:t>   野菜類</a:t>
            </a:r>
            <a:endParaRPr kumimoji="1" lang="ja-JP" altLang="en-US" sz="1400" dirty="0"/>
          </a:p>
        </p:txBody>
      </p:sp>
      <p:sp>
        <p:nvSpPr>
          <p:cNvPr id="9" name="テキスト ボックス 8">
            <a:extLst>
              <a:ext uri="{FF2B5EF4-FFF2-40B4-BE49-F238E27FC236}">
                <a16:creationId xmlns:a16="http://schemas.microsoft.com/office/drawing/2014/main" id="{78E6A8AE-76DF-84F3-888B-78E9B1C8A11B}"/>
              </a:ext>
            </a:extLst>
          </p:cNvPr>
          <p:cNvSpPr txBox="1"/>
          <p:nvPr/>
        </p:nvSpPr>
        <p:spPr>
          <a:xfrm>
            <a:off x="122767" y="1297001"/>
            <a:ext cx="1524001" cy="307777"/>
          </a:xfrm>
          <a:prstGeom prst="rect">
            <a:avLst/>
          </a:prstGeom>
          <a:solidFill>
            <a:srgbClr val="FFFFCC"/>
          </a:solidFill>
        </p:spPr>
        <p:txBody>
          <a:bodyPr wrap="square" rtlCol="0">
            <a:spAutoFit/>
          </a:bodyPr>
          <a:lstStyle/>
          <a:p>
            <a:r>
              <a:rPr kumimoji="1" lang="ja-JP" altLang="en-US" sz="1400" dirty="0"/>
              <a:t>   肉類</a:t>
            </a:r>
          </a:p>
        </p:txBody>
      </p:sp>
      <p:sp>
        <p:nvSpPr>
          <p:cNvPr id="10" name="テキスト ボックス 9">
            <a:extLst>
              <a:ext uri="{FF2B5EF4-FFF2-40B4-BE49-F238E27FC236}">
                <a16:creationId xmlns:a16="http://schemas.microsoft.com/office/drawing/2014/main" id="{19E31E42-BC13-CFAB-9CAF-64B187D7180B}"/>
              </a:ext>
            </a:extLst>
          </p:cNvPr>
          <p:cNvSpPr txBox="1"/>
          <p:nvPr/>
        </p:nvSpPr>
        <p:spPr>
          <a:xfrm>
            <a:off x="122767" y="1686468"/>
            <a:ext cx="1524001" cy="307777"/>
          </a:xfrm>
          <a:prstGeom prst="rect">
            <a:avLst/>
          </a:prstGeom>
          <a:solidFill>
            <a:srgbClr val="FFFFCC"/>
          </a:solidFill>
        </p:spPr>
        <p:txBody>
          <a:bodyPr wrap="square" rtlCol="0">
            <a:spAutoFit/>
          </a:bodyPr>
          <a:lstStyle/>
          <a:p>
            <a:r>
              <a:rPr kumimoji="1" lang="ja-JP" altLang="en-US" sz="1400" dirty="0"/>
              <a:t>   </a:t>
            </a:r>
            <a:r>
              <a:rPr lang="ja-JP" altLang="en-US" sz="1400" dirty="0"/>
              <a:t>魚類</a:t>
            </a:r>
            <a:endParaRPr kumimoji="1" lang="ja-JP" altLang="en-US" sz="1400" dirty="0"/>
          </a:p>
        </p:txBody>
      </p:sp>
      <p:sp>
        <p:nvSpPr>
          <p:cNvPr id="11" name="テキスト ボックス 10">
            <a:extLst>
              <a:ext uri="{FF2B5EF4-FFF2-40B4-BE49-F238E27FC236}">
                <a16:creationId xmlns:a16="http://schemas.microsoft.com/office/drawing/2014/main" id="{3FB5F9A3-6E10-E899-A9E4-9F420D9DA692}"/>
              </a:ext>
            </a:extLst>
          </p:cNvPr>
          <p:cNvSpPr txBox="1"/>
          <p:nvPr/>
        </p:nvSpPr>
        <p:spPr>
          <a:xfrm>
            <a:off x="122766" y="2075935"/>
            <a:ext cx="1524001" cy="307777"/>
          </a:xfrm>
          <a:prstGeom prst="rect">
            <a:avLst/>
          </a:prstGeom>
          <a:solidFill>
            <a:srgbClr val="FFFFCC"/>
          </a:solidFill>
        </p:spPr>
        <p:txBody>
          <a:bodyPr wrap="square" rtlCol="0">
            <a:spAutoFit/>
          </a:bodyPr>
          <a:lstStyle/>
          <a:p>
            <a:r>
              <a:rPr kumimoji="1" lang="ja-JP" altLang="en-US" sz="1400" dirty="0"/>
              <a:t>   乳製品</a:t>
            </a:r>
          </a:p>
        </p:txBody>
      </p:sp>
      <p:sp>
        <p:nvSpPr>
          <p:cNvPr id="12" name="テキスト ボックス 11">
            <a:extLst>
              <a:ext uri="{FF2B5EF4-FFF2-40B4-BE49-F238E27FC236}">
                <a16:creationId xmlns:a16="http://schemas.microsoft.com/office/drawing/2014/main" id="{9A20AC3F-023C-A451-4AA6-940C72D2A0E2}"/>
              </a:ext>
            </a:extLst>
          </p:cNvPr>
          <p:cNvSpPr txBox="1"/>
          <p:nvPr/>
        </p:nvSpPr>
        <p:spPr>
          <a:xfrm>
            <a:off x="122766" y="2465402"/>
            <a:ext cx="1524001" cy="307777"/>
          </a:xfrm>
          <a:prstGeom prst="rect">
            <a:avLst/>
          </a:prstGeom>
          <a:solidFill>
            <a:srgbClr val="FFFFCC"/>
          </a:solidFill>
        </p:spPr>
        <p:txBody>
          <a:bodyPr wrap="square" rtlCol="0">
            <a:spAutoFit/>
          </a:bodyPr>
          <a:lstStyle/>
          <a:p>
            <a:r>
              <a:rPr kumimoji="1" lang="ja-JP" altLang="en-US" sz="1400" dirty="0"/>
              <a:t>   穀物</a:t>
            </a:r>
          </a:p>
        </p:txBody>
      </p:sp>
      <p:sp>
        <p:nvSpPr>
          <p:cNvPr id="13" name="テキスト ボックス 12">
            <a:extLst>
              <a:ext uri="{FF2B5EF4-FFF2-40B4-BE49-F238E27FC236}">
                <a16:creationId xmlns:a16="http://schemas.microsoft.com/office/drawing/2014/main" id="{268208F0-03CA-C82B-0D44-D8239D59B9B6}"/>
              </a:ext>
            </a:extLst>
          </p:cNvPr>
          <p:cNvSpPr txBox="1"/>
          <p:nvPr/>
        </p:nvSpPr>
        <p:spPr>
          <a:xfrm>
            <a:off x="122765" y="2854869"/>
            <a:ext cx="1524001" cy="307777"/>
          </a:xfrm>
          <a:prstGeom prst="rect">
            <a:avLst/>
          </a:prstGeom>
          <a:solidFill>
            <a:srgbClr val="FFFFCC"/>
          </a:solidFill>
        </p:spPr>
        <p:txBody>
          <a:bodyPr wrap="square" rtlCol="0">
            <a:spAutoFit/>
          </a:bodyPr>
          <a:lstStyle/>
          <a:p>
            <a:r>
              <a:rPr kumimoji="1" lang="ja-JP" altLang="en-US" sz="1400" dirty="0"/>
              <a:t>   加工食品</a:t>
            </a:r>
          </a:p>
        </p:txBody>
      </p:sp>
      <p:sp>
        <p:nvSpPr>
          <p:cNvPr id="14" name="テキスト ボックス 13">
            <a:extLst>
              <a:ext uri="{FF2B5EF4-FFF2-40B4-BE49-F238E27FC236}">
                <a16:creationId xmlns:a16="http://schemas.microsoft.com/office/drawing/2014/main" id="{53262165-46A8-68E8-42BA-801EBA7E4416}"/>
              </a:ext>
            </a:extLst>
          </p:cNvPr>
          <p:cNvSpPr txBox="1"/>
          <p:nvPr/>
        </p:nvSpPr>
        <p:spPr>
          <a:xfrm>
            <a:off x="122763" y="3244336"/>
            <a:ext cx="1524001" cy="307777"/>
          </a:xfrm>
          <a:prstGeom prst="rect">
            <a:avLst/>
          </a:prstGeom>
          <a:solidFill>
            <a:srgbClr val="FFFFCC"/>
          </a:solidFill>
        </p:spPr>
        <p:txBody>
          <a:bodyPr wrap="square" rtlCol="0">
            <a:spAutoFit/>
          </a:bodyPr>
          <a:lstStyle/>
          <a:p>
            <a:r>
              <a:rPr kumimoji="1" lang="ja-JP" altLang="en-US" sz="1400" dirty="0"/>
              <a:t>   スナック類</a:t>
            </a:r>
          </a:p>
        </p:txBody>
      </p:sp>
      <p:sp>
        <p:nvSpPr>
          <p:cNvPr id="15" name="テキスト ボックス 14">
            <a:extLst>
              <a:ext uri="{FF2B5EF4-FFF2-40B4-BE49-F238E27FC236}">
                <a16:creationId xmlns:a16="http://schemas.microsoft.com/office/drawing/2014/main" id="{E438F1D1-ECD4-6756-C759-CEF9FEEA89A0}"/>
              </a:ext>
            </a:extLst>
          </p:cNvPr>
          <p:cNvSpPr txBox="1"/>
          <p:nvPr/>
        </p:nvSpPr>
        <p:spPr>
          <a:xfrm>
            <a:off x="122762" y="3628158"/>
            <a:ext cx="1524001" cy="307777"/>
          </a:xfrm>
          <a:prstGeom prst="rect">
            <a:avLst/>
          </a:prstGeom>
          <a:solidFill>
            <a:srgbClr val="FFFFCC"/>
          </a:solidFill>
        </p:spPr>
        <p:txBody>
          <a:bodyPr wrap="square" rtlCol="0">
            <a:spAutoFit/>
          </a:bodyPr>
          <a:lstStyle/>
          <a:p>
            <a:r>
              <a:rPr kumimoji="1" lang="ja-JP" altLang="en-US" sz="1400" dirty="0"/>
              <a:t>   酒類</a:t>
            </a:r>
          </a:p>
        </p:txBody>
      </p:sp>
      <p:sp>
        <p:nvSpPr>
          <p:cNvPr id="16" name="テキスト ボックス 15">
            <a:extLst>
              <a:ext uri="{FF2B5EF4-FFF2-40B4-BE49-F238E27FC236}">
                <a16:creationId xmlns:a16="http://schemas.microsoft.com/office/drawing/2014/main" id="{C2A1895A-5490-6DCC-8FF9-8CF0A1BE0322}"/>
              </a:ext>
            </a:extLst>
          </p:cNvPr>
          <p:cNvSpPr txBox="1"/>
          <p:nvPr/>
        </p:nvSpPr>
        <p:spPr>
          <a:xfrm>
            <a:off x="122761" y="4023270"/>
            <a:ext cx="1524001" cy="307777"/>
          </a:xfrm>
          <a:prstGeom prst="rect">
            <a:avLst/>
          </a:prstGeom>
          <a:solidFill>
            <a:srgbClr val="FFFFCC"/>
          </a:solidFill>
        </p:spPr>
        <p:txBody>
          <a:bodyPr wrap="square" rtlCol="0">
            <a:spAutoFit/>
          </a:bodyPr>
          <a:lstStyle/>
          <a:p>
            <a:r>
              <a:rPr kumimoji="1" lang="ja-JP" altLang="en-US" sz="1400" dirty="0"/>
              <a:t>   日用品</a:t>
            </a:r>
          </a:p>
        </p:txBody>
      </p:sp>
      <p:sp>
        <p:nvSpPr>
          <p:cNvPr id="17" name="テキスト ボックス 16">
            <a:extLst>
              <a:ext uri="{FF2B5EF4-FFF2-40B4-BE49-F238E27FC236}">
                <a16:creationId xmlns:a16="http://schemas.microsoft.com/office/drawing/2014/main" id="{4F894EC8-85F9-47CC-761E-66A3D4A21633}"/>
              </a:ext>
            </a:extLst>
          </p:cNvPr>
          <p:cNvSpPr txBox="1"/>
          <p:nvPr/>
        </p:nvSpPr>
        <p:spPr>
          <a:xfrm>
            <a:off x="1913466" y="2861863"/>
            <a:ext cx="8915400" cy="338554"/>
          </a:xfrm>
          <a:prstGeom prst="rect">
            <a:avLst/>
          </a:prstGeom>
          <a:solidFill>
            <a:srgbClr val="FFFFCC"/>
          </a:solidFill>
        </p:spPr>
        <p:txBody>
          <a:bodyPr wrap="square" rtlCol="0">
            <a:spAutoFit/>
          </a:bodyPr>
          <a:lstStyle/>
          <a:p>
            <a:r>
              <a:rPr kumimoji="1" lang="ja-JP" altLang="en-US" sz="1600" b="1" dirty="0"/>
              <a:t>野菜類</a:t>
            </a:r>
          </a:p>
        </p:txBody>
      </p:sp>
      <p:graphicFrame>
        <p:nvGraphicFramePr>
          <p:cNvPr id="19" name="表 18">
            <a:extLst>
              <a:ext uri="{FF2B5EF4-FFF2-40B4-BE49-F238E27FC236}">
                <a16:creationId xmlns:a16="http://schemas.microsoft.com/office/drawing/2014/main" id="{E97C823B-8948-C389-C67A-0A9F5C512C4D}"/>
              </a:ext>
            </a:extLst>
          </p:cNvPr>
          <p:cNvGraphicFramePr>
            <a:graphicFrameLocks noGrp="1"/>
          </p:cNvGraphicFramePr>
          <p:nvPr>
            <p:extLst>
              <p:ext uri="{D42A27DB-BD31-4B8C-83A1-F6EECF244321}">
                <p14:modId xmlns:p14="http://schemas.microsoft.com/office/powerpoint/2010/main" val="3467009037"/>
              </p:ext>
            </p:extLst>
          </p:nvPr>
        </p:nvGraphicFramePr>
        <p:xfrm>
          <a:off x="1913465" y="3291701"/>
          <a:ext cx="8915401" cy="3295273"/>
        </p:xfrm>
        <a:graphic>
          <a:graphicData uri="http://schemas.openxmlformats.org/drawingml/2006/table">
            <a:tbl>
              <a:tblPr firstRow="1" bandRow="1">
                <a:tableStyleId>{5C22544A-7EE6-4342-B048-85BDC9FD1C3A}</a:tableStyleId>
              </a:tblPr>
              <a:tblGrid>
                <a:gridCol w="1822463">
                  <a:extLst>
                    <a:ext uri="{9D8B030D-6E8A-4147-A177-3AD203B41FA5}">
                      <a16:colId xmlns:a16="http://schemas.microsoft.com/office/drawing/2014/main" val="3258673070"/>
                    </a:ext>
                  </a:extLst>
                </a:gridCol>
                <a:gridCol w="2635238">
                  <a:extLst>
                    <a:ext uri="{9D8B030D-6E8A-4147-A177-3AD203B41FA5}">
                      <a16:colId xmlns:a16="http://schemas.microsoft.com/office/drawing/2014/main" val="3730380968"/>
                    </a:ext>
                  </a:extLst>
                </a:gridCol>
                <a:gridCol w="2863569">
                  <a:extLst>
                    <a:ext uri="{9D8B030D-6E8A-4147-A177-3AD203B41FA5}">
                      <a16:colId xmlns:a16="http://schemas.microsoft.com/office/drawing/2014/main" val="1951801395"/>
                    </a:ext>
                  </a:extLst>
                </a:gridCol>
                <a:gridCol w="1594131">
                  <a:extLst>
                    <a:ext uri="{9D8B030D-6E8A-4147-A177-3AD203B41FA5}">
                      <a16:colId xmlns:a16="http://schemas.microsoft.com/office/drawing/2014/main" val="2555074492"/>
                    </a:ext>
                  </a:extLst>
                </a:gridCol>
              </a:tblGrid>
              <a:tr h="460633">
                <a:tc>
                  <a:txBody>
                    <a:bodyPr/>
                    <a:lstStyle/>
                    <a:p>
                      <a:pPr algn="ctr"/>
                      <a:r>
                        <a:rPr kumimoji="1" lang="ja-JP" altLang="en-US" sz="1400" b="1" dirty="0">
                          <a:solidFill>
                            <a:schemeClr val="tx1"/>
                          </a:solidFill>
                        </a:rPr>
                        <a:t>商品コード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商品名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商品写真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7993683"/>
                  </a:ext>
                </a:extLst>
              </a:tr>
              <a:tr h="367592">
                <a:tc>
                  <a:txBody>
                    <a:bodyPr/>
                    <a:lstStyle/>
                    <a:p>
                      <a:pPr algn="ctr"/>
                      <a:r>
                        <a:rPr kumimoji="1" lang="en-US" altLang="ja-JP" sz="1400" dirty="0"/>
                        <a:t>A00123</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dirty="0">
                          <a:solidFill>
                            <a:schemeClr val="tx1"/>
                          </a:solidFill>
                        </a:rPr>
                        <a:t>有機トマト（国産）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ja-JP"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u="sng" dirty="0">
                          <a:solidFill>
                            <a:srgbClr val="FF0000"/>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2849339792"/>
                  </a:ext>
                </a:extLst>
              </a:tr>
              <a:tr h="460633">
                <a:tc>
                  <a:txBody>
                    <a:bodyPr/>
                    <a:lstStyle/>
                    <a:p>
                      <a:pPr algn="ctr"/>
                      <a:r>
                        <a:rPr kumimoji="1" lang="en-US" altLang="ja-JP" sz="1400" dirty="0"/>
                        <a:t>A000124</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0" dirty="0">
                          <a:solidFill>
                            <a:schemeClr val="tx1"/>
                          </a:solidFill>
                        </a:rPr>
                        <a:t>きゅうり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7885544"/>
                  </a:ext>
                </a:extLst>
              </a:tr>
              <a:tr h="460633">
                <a:tc>
                  <a:txBody>
                    <a:bodyPr/>
                    <a:lstStyle/>
                    <a:p>
                      <a:pPr algn="ctr"/>
                      <a:r>
                        <a:rPr kumimoji="1" lang="en-US" altLang="ja-JP" sz="1400" dirty="0"/>
                        <a:t>A000125</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dirty="0">
                          <a:solidFill>
                            <a:schemeClr val="tx1"/>
                          </a:solidFill>
                        </a:rPr>
                        <a:t>キャベツ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ja-JP"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3137844640"/>
                  </a:ext>
                </a:extLst>
              </a:tr>
            </a:tbl>
          </a:graphicData>
        </a:graphic>
      </p:graphicFrame>
      <p:pic>
        <p:nvPicPr>
          <p:cNvPr id="21" name="図 20">
            <a:extLst>
              <a:ext uri="{FF2B5EF4-FFF2-40B4-BE49-F238E27FC236}">
                <a16:creationId xmlns:a16="http://schemas.microsoft.com/office/drawing/2014/main" id="{736B78D2-A62B-6F0D-4835-7C3C85666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6594" y="3782046"/>
            <a:ext cx="905933" cy="905933"/>
          </a:xfrm>
          <a:prstGeom prst="rect">
            <a:avLst/>
          </a:prstGeom>
        </p:spPr>
      </p:pic>
      <p:pic>
        <p:nvPicPr>
          <p:cNvPr id="23" name="図 22">
            <a:extLst>
              <a:ext uri="{FF2B5EF4-FFF2-40B4-BE49-F238E27FC236}">
                <a16:creationId xmlns:a16="http://schemas.microsoft.com/office/drawing/2014/main" id="{6CBDC433-757F-5D05-9651-7A3023DA12F6}"/>
              </a:ext>
            </a:extLst>
          </p:cNvPr>
          <p:cNvPicPr>
            <a:picLocks noChangeAspect="1"/>
          </p:cNvPicPr>
          <p:nvPr/>
        </p:nvPicPr>
        <p:blipFill>
          <a:blip r:embed="rId3">
            <a:extLst>
              <a:ext uri="{28A0092B-C50C-407E-A947-70E740481C1C}">
                <a14:useLocalDpi xmlns:a14="http://schemas.microsoft.com/office/drawing/2010/main" val="0"/>
              </a:ext>
            </a:extLst>
          </a:blip>
          <a:srcRect l="25181" t="513" r="25406"/>
          <a:stretch>
            <a:fillRect/>
          </a:stretch>
        </p:blipFill>
        <p:spPr>
          <a:xfrm rot="16200000">
            <a:off x="7501832" y="4605491"/>
            <a:ext cx="615456" cy="1240087"/>
          </a:xfrm>
          <a:prstGeom prst="rect">
            <a:avLst/>
          </a:prstGeom>
        </p:spPr>
      </p:pic>
      <p:pic>
        <p:nvPicPr>
          <p:cNvPr id="30" name="図 29">
            <a:extLst>
              <a:ext uri="{FF2B5EF4-FFF2-40B4-BE49-F238E27FC236}">
                <a16:creationId xmlns:a16="http://schemas.microsoft.com/office/drawing/2014/main" id="{27032EA4-9FA9-8BD5-64C9-CFBE421A48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6886" y="5719238"/>
            <a:ext cx="938862" cy="867736"/>
          </a:xfrm>
          <a:prstGeom prst="rect">
            <a:avLst/>
          </a:prstGeom>
        </p:spPr>
      </p:pic>
      <p:sp>
        <p:nvSpPr>
          <p:cNvPr id="31" name="テキスト ボックス 30">
            <a:extLst>
              <a:ext uri="{FF2B5EF4-FFF2-40B4-BE49-F238E27FC236}">
                <a16:creationId xmlns:a16="http://schemas.microsoft.com/office/drawing/2014/main" id="{66543EE9-5A6E-A332-E530-CA3B3E300E8B}"/>
              </a:ext>
            </a:extLst>
          </p:cNvPr>
          <p:cNvSpPr txBox="1"/>
          <p:nvPr/>
        </p:nvSpPr>
        <p:spPr>
          <a:xfrm>
            <a:off x="7356594" y="2597220"/>
            <a:ext cx="2353733" cy="307777"/>
          </a:xfrm>
          <a:prstGeom prst="rect">
            <a:avLst/>
          </a:prstGeom>
          <a:noFill/>
        </p:spPr>
        <p:txBody>
          <a:bodyPr wrap="square" rtlCol="0">
            <a:spAutoFit/>
          </a:bodyPr>
          <a:lstStyle/>
          <a:p>
            <a:r>
              <a:rPr kumimoji="1" lang="ja-JP" altLang="en-US" sz="1400" dirty="0"/>
              <a:t>検索</a:t>
            </a:r>
          </a:p>
        </p:txBody>
      </p:sp>
      <p:sp>
        <p:nvSpPr>
          <p:cNvPr id="32" name="正方形/長方形 31">
            <a:extLst>
              <a:ext uri="{FF2B5EF4-FFF2-40B4-BE49-F238E27FC236}">
                <a16:creationId xmlns:a16="http://schemas.microsoft.com/office/drawing/2014/main" id="{2D30A55F-FA2B-C3C0-B579-E3993AFA4406}"/>
              </a:ext>
            </a:extLst>
          </p:cNvPr>
          <p:cNvSpPr/>
          <p:nvPr/>
        </p:nvSpPr>
        <p:spPr>
          <a:xfrm>
            <a:off x="7870803" y="2518759"/>
            <a:ext cx="2958063" cy="343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84D3D38-42AF-30FE-7537-DDE3138DBE6F}"/>
              </a:ext>
            </a:extLst>
          </p:cNvPr>
          <p:cNvSpPr txBox="1"/>
          <p:nvPr/>
        </p:nvSpPr>
        <p:spPr>
          <a:xfrm>
            <a:off x="1913465" y="630535"/>
            <a:ext cx="10151535" cy="1815882"/>
          </a:xfrm>
          <a:prstGeom prst="rect">
            <a:avLst/>
          </a:prstGeom>
          <a:solidFill>
            <a:srgbClr val="FEA9A0"/>
          </a:solidFill>
        </p:spPr>
        <p:txBody>
          <a:bodyPr wrap="square" rtlCol="0">
            <a:spAutoFit/>
          </a:bodyPr>
          <a:lstStyle/>
          <a:p>
            <a:r>
              <a:rPr lang="en-US" altLang="ja-JP" sz="1200" b="1" dirty="0"/>
              <a:t>※</a:t>
            </a:r>
            <a:r>
              <a:rPr lang="ja-JP" altLang="en-US" sz="1200" b="1" dirty="0"/>
              <a:t>閾値を下回った商品</a:t>
            </a:r>
            <a:r>
              <a:rPr lang="en-US" altLang="ja-JP" sz="1200" b="1" dirty="0"/>
              <a:t>※</a:t>
            </a:r>
            <a:endParaRPr kumimoji="1" lang="en-US" altLang="ja-JP" sz="1200" b="1" dirty="0"/>
          </a:p>
          <a:p>
            <a:endParaRPr lang="en-US" altLang="ja-JP" sz="1600" b="1" dirty="0"/>
          </a:p>
          <a:p>
            <a:endParaRPr lang="en-US" altLang="ja-JP" sz="1600" b="1" dirty="0"/>
          </a:p>
          <a:p>
            <a:endParaRPr lang="en-US" altLang="ja-JP" sz="1600" b="1" dirty="0"/>
          </a:p>
          <a:p>
            <a:endParaRPr lang="en-US" altLang="ja-JP" sz="1600" b="1" dirty="0"/>
          </a:p>
          <a:p>
            <a:endParaRPr lang="en-US" altLang="ja-JP" sz="1600" b="1" dirty="0"/>
          </a:p>
          <a:p>
            <a:endParaRPr lang="en-US" altLang="ja-JP" sz="1600" b="1" dirty="0"/>
          </a:p>
        </p:txBody>
      </p:sp>
      <p:graphicFrame>
        <p:nvGraphicFramePr>
          <p:cNvPr id="34" name="表 33">
            <a:extLst>
              <a:ext uri="{FF2B5EF4-FFF2-40B4-BE49-F238E27FC236}">
                <a16:creationId xmlns:a16="http://schemas.microsoft.com/office/drawing/2014/main" id="{4F8795FD-8D0F-61A2-6CCF-E99020CA94F2}"/>
              </a:ext>
            </a:extLst>
          </p:cNvPr>
          <p:cNvGraphicFramePr>
            <a:graphicFrameLocks noGrp="1"/>
          </p:cNvGraphicFramePr>
          <p:nvPr>
            <p:extLst>
              <p:ext uri="{D42A27DB-BD31-4B8C-83A1-F6EECF244321}">
                <p14:modId xmlns:p14="http://schemas.microsoft.com/office/powerpoint/2010/main" val="2970533519"/>
              </p:ext>
            </p:extLst>
          </p:nvPr>
        </p:nvGraphicFramePr>
        <p:xfrm>
          <a:off x="2006230" y="1039785"/>
          <a:ext cx="9743820" cy="1240533"/>
        </p:xfrm>
        <a:graphic>
          <a:graphicData uri="http://schemas.openxmlformats.org/drawingml/2006/table">
            <a:tbl>
              <a:tblPr firstRow="1" bandRow="1">
                <a:tableStyleId>{93296810-A885-4BE3-A3E7-6D5BEEA58F35}</a:tableStyleId>
              </a:tblPr>
              <a:tblGrid>
                <a:gridCol w="1623970">
                  <a:extLst>
                    <a:ext uri="{9D8B030D-6E8A-4147-A177-3AD203B41FA5}">
                      <a16:colId xmlns:a16="http://schemas.microsoft.com/office/drawing/2014/main" val="1483932164"/>
                    </a:ext>
                  </a:extLst>
                </a:gridCol>
                <a:gridCol w="1623970">
                  <a:extLst>
                    <a:ext uri="{9D8B030D-6E8A-4147-A177-3AD203B41FA5}">
                      <a16:colId xmlns:a16="http://schemas.microsoft.com/office/drawing/2014/main" val="902700160"/>
                    </a:ext>
                  </a:extLst>
                </a:gridCol>
                <a:gridCol w="1623970">
                  <a:extLst>
                    <a:ext uri="{9D8B030D-6E8A-4147-A177-3AD203B41FA5}">
                      <a16:colId xmlns:a16="http://schemas.microsoft.com/office/drawing/2014/main" val="3755180478"/>
                    </a:ext>
                  </a:extLst>
                </a:gridCol>
                <a:gridCol w="1623970">
                  <a:extLst>
                    <a:ext uri="{9D8B030D-6E8A-4147-A177-3AD203B41FA5}">
                      <a16:colId xmlns:a16="http://schemas.microsoft.com/office/drawing/2014/main" val="3993050362"/>
                    </a:ext>
                  </a:extLst>
                </a:gridCol>
                <a:gridCol w="1623970">
                  <a:extLst>
                    <a:ext uri="{9D8B030D-6E8A-4147-A177-3AD203B41FA5}">
                      <a16:colId xmlns:a16="http://schemas.microsoft.com/office/drawing/2014/main" val="675262487"/>
                    </a:ext>
                  </a:extLst>
                </a:gridCol>
                <a:gridCol w="1623970">
                  <a:extLst>
                    <a:ext uri="{9D8B030D-6E8A-4147-A177-3AD203B41FA5}">
                      <a16:colId xmlns:a16="http://schemas.microsoft.com/office/drawing/2014/main" val="2484138430"/>
                    </a:ext>
                  </a:extLst>
                </a:gridCol>
              </a:tblGrid>
              <a:tr h="413511">
                <a:tc>
                  <a:txBody>
                    <a:bodyPr/>
                    <a:lstStyle/>
                    <a:p>
                      <a:pPr algn="ctr"/>
                      <a:r>
                        <a:rPr kumimoji="1" lang="ja-JP" altLang="en-US" sz="1400" dirty="0">
                          <a:solidFill>
                            <a:schemeClr val="tx1"/>
                          </a:solidFill>
                        </a:rPr>
                        <a:t>商品コード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商品名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カテゴリ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在庫数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閾値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9926113"/>
                  </a:ext>
                </a:extLst>
              </a:tr>
              <a:tr h="413511">
                <a:tc>
                  <a:txBody>
                    <a:bodyPr/>
                    <a:lstStyle/>
                    <a:p>
                      <a:pPr algn="ctr"/>
                      <a:r>
                        <a:rPr kumimoji="1" lang="en-US" altLang="ja-JP" sz="1400" dirty="0"/>
                        <a:t>B00456</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牛乳１</a:t>
                      </a:r>
                      <a:r>
                        <a:rPr kumimoji="1" lang="en-US" altLang="ja-JP" sz="1400" dirty="0">
                          <a:solidFill>
                            <a:schemeClr val="tx1"/>
                          </a:solidFill>
                        </a:rPr>
                        <a:t>L</a:t>
                      </a:r>
                      <a:endParaRPr kumimoji="1" lang="ja-JP"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乳製品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solidFill>
                            <a:schemeClr val="tx1"/>
                          </a:solidFill>
                        </a:rPr>
                        <a:t>12</a:t>
                      </a:r>
                      <a:endParaRPr kumimoji="1" lang="ja-JP"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solidFill>
                            <a:schemeClr val="tx1"/>
                          </a:solidFill>
                        </a:rPr>
                        <a:t>15</a:t>
                      </a:r>
                      <a:endParaRPr kumimoji="1" lang="ja-JP"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655429"/>
                  </a:ext>
                </a:extLst>
              </a:tr>
              <a:tr h="413511">
                <a:tc>
                  <a:txBody>
                    <a:bodyPr/>
                    <a:lstStyle/>
                    <a:p>
                      <a:pPr algn="ctr"/>
                      <a:r>
                        <a:rPr kumimoji="1" lang="en-US" altLang="ja-JP" sz="1400" dirty="0"/>
                        <a:t>E00125</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柔軟剤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400" dirty="0">
                          <a:solidFill>
                            <a:schemeClr val="tx1"/>
                          </a:solidFill>
                        </a:rPr>
                        <a:t>日用品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solidFill>
                            <a:schemeClr val="tx1"/>
                          </a:solidFill>
                        </a:rPr>
                        <a:t>10</a:t>
                      </a:r>
                      <a:endParaRPr kumimoji="1" lang="ja-JP"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solidFill>
                            <a:schemeClr val="tx1"/>
                          </a:solidFill>
                        </a:rPr>
                        <a:t>15</a:t>
                      </a:r>
                      <a:endParaRPr kumimoji="1" lang="ja-JP"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発注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4810378"/>
                  </a:ext>
                </a:extLst>
              </a:tr>
            </a:tbl>
          </a:graphicData>
        </a:graphic>
      </p:graphicFrame>
      <p:sp>
        <p:nvSpPr>
          <p:cNvPr id="35" name="テキスト ボックス 34">
            <a:extLst>
              <a:ext uri="{FF2B5EF4-FFF2-40B4-BE49-F238E27FC236}">
                <a16:creationId xmlns:a16="http://schemas.microsoft.com/office/drawing/2014/main" id="{3EE794CF-2763-3F2C-72DD-E4767F5F01D2}"/>
              </a:ext>
            </a:extLst>
          </p:cNvPr>
          <p:cNvSpPr txBox="1"/>
          <p:nvPr/>
        </p:nvSpPr>
        <p:spPr>
          <a:xfrm>
            <a:off x="1849964" y="2518861"/>
            <a:ext cx="1771419" cy="369332"/>
          </a:xfrm>
          <a:prstGeom prst="rect">
            <a:avLst/>
          </a:prstGeom>
          <a:noFill/>
        </p:spPr>
        <p:txBody>
          <a:bodyPr wrap="square" rtlCol="0">
            <a:spAutoFit/>
          </a:bodyPr>
          <a:lstStyle/>
          <a:p>
            <a:r>
              <a:rPr kumimoji="1" lang="ja-JP" altLang="en-US" b="1" dirty="0"/>
              <a:t>■商品一覧■</a:t>
            </a:r>
          </a:p>
        </p:txBody>
      </p:sp>
    </p:spTree>
    <p:extLst>
      <p:ext uri="{BB962C8B-B14F-4D97-AF65-F5344CB8AC3E}">
        <p14:creationId xmlns:p14="http://schemas.microsoft.com/office/powerpoint/2010/main" val="2897596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5A878F-F288-4E48-6DF1-9060E6910E24}"/>
              </a:ext>
            </a:extLst>
          </p:cNvPr>
          <p:cNvSpPr>
            <a:spLocks noGrp="1"/>
          </p:cNvSpPr>
          <p:nvPr>
            <p:ph type="title"/>
          </p:nvPr>
        </p:nvSpPr>
        <p:spPr>
          <a:xfrm>
            <a:off x="0" y="0"/>
            <a:ext cx="12192000" cy="448733"/>
          </a:xfrm>
          <a:solidFill>
            <a:srgbClr val="FFFF66"/>
          </a:solidFill>
        </p:spPr>
        <p:txBody>
          <a:bodyPr>
            <a:noAutofit/>
          </a:bodyPr>
          <a:lstStyle/>
          <a:p>
            <a:pPr algn="ctr"/>
            <a:r>
              <a:rPr kumimoji="1" lang="ja-JP" altLang="en-US" sz="2000" b="1" dirty="0">
                <a:latin typeface="BIZ UDゴシック" panose="020B0400000000000000" pitchFamily="49" charset="-128"/>
                <a:ea typeface="BIZ UDゴシック" panose="020B0400000000000000" pitchFamily="49" charset="-128"/>
              </a:rPr>
              <a:t>入出庫管理</a:t>
            </a:r>
          </a:p>
        </p:txBody>
      </p:sp>
      <p:sp>
        <p:nvSpPr>
          <p:cNvPr id="3" name="テキスト ボックス 2">
            <a:extLst>
              <a:ext uri="{FF2B5EF4-FFF2-40B4-BE49-F238E27FC236}">
                <a16:creationId xmlns:a16="http://schemas.microsoft.com/office/drawing/2014/main" id="{4ABE5B2E-2948-1D87-2C3A-90740C58FC42}"/>
              </a:ext>
            </a:extLst>
          </p:cNvPr>
          <p:cNvSpPr txBox="1"/>
          <p:nvPr/>
        </p:nvSpPr>
        <p:spPr>
          <a:xfrm>
            <a:off x="59268" y="609600"/>
            <a:ext cx="1651000" cy="6186309"/>
          </a:xfrm>
          <a:prstGeom prst="rect">
            <a:avLst/>
          </a:prstGeom>
          <a:solidFill>
            <a:srgbClr val="FFFF66"/>
          </a:solidFill>
        </p:spPr>
        <p:txBody>
          <a:bodyPr wrap="square" rtlCol="0">
            <a:spAutoFit/>
          </a:bodyPr>
          <a:lstStyle/>
          <a:p>
            <a:r>
              <a:rPr lang="en-US" altLang="ja-JP" sz="1400" b="1" dirty="0">
                <a:latin typeface="BIZ UDゴシック" panose="020B0400000000000000" pitchFamily="49" charset="-128"/>
                <a:ea typeface="BIZ UDゴシック" panose="020B0400000000000000" pitchFamily="49" charset="-128"/>
              </a:rPr>
              <a:t>〈</a:t>
            </a:r>
            <a:r>
              <a:rPr lang="ja-JP" altLang="en-US" sz="1400" b="1" dirty="0">
                <a:latin typeface="BIZ UDゴシック" panose="020B0400000000000000" pitchFamily="49" charset="-128"/>
                <a:ea typeface="BIZ UDゴシック" panose="020B0400000000000000" pitchFamily="49" charset="-128"/>
              </a:rPr>
              <a:t>カテゴリー</a:t>
            </a:r>
            <a:r>
              <a:rPr lang="en-US" altLang="ja-JP" sz="1400" b="1" dirty="0">
                <a:latin typeface="BIZ UDゴシック" panose="020B0400000000000000" pitchFamily="49" charset="-128"/>
                <a:ea typeface="BIZ UDゴシック" panose="020B0400000000000000" pitchFamily="49" charset="-128"/>
              </a:rPr>
              <a:t>〉</a:t>
            </a:r>
          </a:p>
          <a:p>
            <a:endParaRPr kumimoji="1" lang="en-US" altLang="ja-JP" sz="1400" b="1"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a:p>
            <a:endParaRPr kumimoji="1" lang="en-US" altLang="ja-JP" sz="1600" dirty="0">
              <a:latin typeface="BIZ UDゴシック" panose="020B0400000000000000" pitchFamily="49" charset="-128"/>
              <a:ea typeface="BIZ UDゴシック" panose="020B0400000000000000" pitchFamily="49" charset="-128"/>
            </a:endParaRPr>
          </a:p>
          <a:p>
            <a:endParaRPr lang="en-US" altLang="ja-JP" sz="1600" dirty="0">
              <a:latin typeface="BIZ UDゴシック" panose="020B0400000000000000" pitchFamily="49" charset="-128"/>
              <a:ea typeface="BIZ UDゴシック" panose="020B0400000000000000" pitchFamily="49" charset="-128"/>
            </a:endParaRPr>
          </a:p>
        </p:txBody>
      </p:sp>
      <p:sp>
        <p:nvSpPr>
          <p:cNvPr id="4" name="テキスト ボックス 3">
            <a:extLst>
              <a:ext uri="{FF2B5EF4-FFF2-40B4-BE49-F238E27FC236}">
                <a16:creationId xmlns:a16="http://schemas.microsoft.com/office/drawing/2014/main" id="{0E4BF230-005E-7AE2-90CB-ADACBE9DE6EB}"/>
              </a:ext>
            </a:extLst>
          </p:cNvPr>
          <p:cNvSpPr txBox="1"/>
          <p:nvPr/>
        </p:nvSpPr>
        <p:spPr>
          <a:xfrm>
            <a:off x="126999" y="907534"/>
            <a:ext cx="1524001" cy="307777"/>
          </a:xfrm>
          <a:prstGeom prst="rect">
            <a:avLst/>
          </a:prstGeom>
          <a:solidFill>
            <a:srgbClr val="FFFFCC"/>
          </a:solidFill>
        </p:spPr>
        <p:txBody>
          <a:bodyPr wrap="square" rtlCol="0">
            <a:spAutoFit/>
          </a:bodyPr>
          <a:lstStyle/>
          <a:p>
            <a:r>
              <a:rPr lang="ja-JP" altLang="en-US" sz="1400" dirty="0"/>
              <a:t>   野菜類</a:t>
            </a:r>
            <a:endParaRPr kumimoji="1" lang="ja-JP" altLang="en-US" sz="1400" dirty="0"/>
          </a:p>
        </p:txBody>
      </p:sp>
      <p:sp>
        <p:nvSpPr>
          <p:cNvPr id="5" name="テキスト ボックス 4">
            <a:extLst>
              <a:ext uri="{FF2B5EF4-FFF2-40B4-BE49-F238E27FC236}">
                <a16:creationId xmlns:a16="http://schemas.microsoft.com/office/drawing/2014/main" id="{B4780C88-E119-E2AF-7B62-B4B4FFBB6427}"/>
              </a:ext>
            </a:extLst>
          </p:cNvPr>
          <p:cNvSpPr txBox="1"/>
          <p:nvPr/>
        </p:nvSpPr>
        <p:spPr>
          <a:xfrm>
            <a:off x="122767" y="1297001"/>
            <a:ext cx="1524001" cy="307777"/>
          </a:xfrm>
          <a:prstGeom prst="rect">
            <a:avLst/>
          </a:prstGeom>
          <a:solidFill>
            <a:srgbClr val="FFFFCC"/>
          </a:solidFill>
        </p:spPr>
        <p:txBody>
          <a:bodyPr wrap="square" rtlCol="0">
            <a:spAutoFit/>
          </a:bodyPr>
          <a:lstStyle/>
          <a:p>
            <a:r>
              <a:rPr kumimoji="1" lang="ja-JP" altLang="en-US" sz="1400" dirty="0"/>
              <a:t>   肉類</a:t>
            </a:r>
          </a:p>
        </p:txBody>
      </p:sp>
      <p:sp>
        <p:nvSpPr>
          <p:cNvPr id="6" name="テキスト ボックス 5">
            <a:extLst>
              <a:ext uri="{FF2B5EF4-FFF2-40B4-BE49-F238E27FC236}">
                <a16:creationId xmlns:a16="http://schemas.microsoft.com/office/drawing/2014/main" id="{3B4C39AC-B361-AFA3-57AC-635EED02EAE9}"/>
              </a:ext>
            </a:extLst>
          </p:cNvPr>
          <p:cNvSpPr txBox="1"/>
          <p:nvPr/>
        </p:nvSpPr>
        <p:spPr>
          <a:xfrm>
            <a:off x="122767" y="1686468"/>
            <a:ext cx="1524001" cy="307777"/>
          </a:xfrm>
          <a:prstGeom prst="rect">
            <a:avLst/>
          </a:prstGeom>
          <a:solidFill>
            <a:srgbClr val="FFFFCC"/>
          </a:solidFill>
        </p:spPr>
        <p:txBody>
          <a:bodyPr wrap="square" rtlCol="0">
            <a:spAutoFit/>
          </a:bodyPr>
          <a:lstStyle/>
          <a:p>
            <a:r>
              <a:rPr kumimoji="1" lang="ja-JP" altLang="en-US" sz="1400" dirty="0"/>
              <a:t>   </a:t>
            </a:r>
            <a:r>
              <a:rPr lang="ja-JP" altLang="en-US" sz="1400" dirty="0"/>
              <a:t>魚類</a:t>
            </a:r>
            <a:endParaRPr kumimoji="1" lang="ja-JP" altLang="en-US" sz="1400" dirty="0"/>
          </a:p>
        </p:txBody>
      </p:sp>
      <p:sp>
        <p:nvSpPr>
          <p:cNvPr id="7" name="テキスト ボックス 6">
            <a:extLst>
              <a:ext uri="{FF2B5EF4-FFF2-40B4-BE49-F238E27FC236}">
                <a16:creationId xmlns:a16="http://schemas.microsoft.com/office/drawing/2014/main" id="{EE68840E-E212-6B98-ABE3-06A700D16A22}"/>
              </a:ext>
            </a:extLst>
          </p:cNvPr>
          <p:cNvSpPr txBox="1"/>
          <p:nvPr/>
        </p:nvSpPr>
        <p:spPr>
          <a:xfrm>
            <a:off x="122766" y="2075935"/>
            <a:ext cx="1524001" cy="307777"/>
          </a:xfrm>
          <a:prstGeom prst="rect">
            <a:avLst/>
          </a:prstGeom>
          <a:solidFill>
            <a:srgbClr val="FFFFCC"/>
          </a:solidFill>
        </p:spPr>
        <p:txBody>
          <a:bodyPr wrap="square" rtlCol="0">
            <a:spAutoFit/>
          </a:bodyPr>
          <a:lstStyle/>
          <a:p>
            <a:r>
              <a:rPr kumimoji="1" lang="ja-JP" altLang="en-US" sz="1400" dirty="0"/>
              <a:t>   乳製品</a:t>
            </a:r>
          </a:p>
        </p:txBody>
      </p:sp>
      <p:sp>
        <p:nvSpPr>
          <p:cNvPr id="8" name="テキスト ボックス 7">
            <a:extLst>
              <a:ext uri="{FF2B5EF4-FFF2-40B4-BE49-F238E27FC236}">
                <a16:creationId xmlns:a16="http://schemas.microsoft.com/office/drawing/2014/main" id="{46F3B6B2-C1D6-C159-98AA-46E7479540EE}"/>
              </a:ext>
            </a:extLst>
          </p:cNvPr>
          <p:cNvSpPr txBox="1"/>
          <p:nvPr/>
        </p:nvSpPr>
        <p:spPr>
          <a:xfrm>
            <a:off x="122766" y="2465402"/>
            <a:ext cx="1524001" cy="307777"/>
          </a:xfrm>
          <a:prstGeom prst="rect">
            <a:avLst/>
          </a:prstGeom>
          <a:solidFill>
            <a:srgbClr val="FFFFCC"/>
          </a:solidFill>
        </p:spPr>
        <p:txBody>
          <a:bodyPr wrap="square" rtlCol="0">
            <a:spAutoFit/>
          </a:bodyPr>
          <a:lstStyle/>
          <a:p>
            <a:r>
              <a:rPr kumimoji="1" lang="ja-JP" altLang="en-US" sz="1400" dirty="0"/>
              <a:t>   穀物</a:t>
            </a:r>
          </a:p>
        </p:txBody>
      </p:sp>
      <p:sp>
        <p:nvSpPr>
          <p:cNvPr id="9" name="テキスト ボックス 8">
            <a:extLst>
              <a:ext uri="{FF2B5EF4-FFF2-40B4-BE49-F238E27FC236}">
                <a16:creationId xmlns:a16="http://schemas.microsoft.com/office/drawing/2014/main" id="{8B7E6325-1686-D257-B5C7-D214415FAB95}"/>
              </a:ext>
            </a:extLst>
          </p:cNvPr>
          <p:cNvSpPr txBox="1"/>
          <p:nvPr/>
        </p:nvSpPr>
        <p:spPr>
          <a:xfrm>
            <a:off x="122765" y="2854869"/>
            <a:ext cx="1524001" cy="307777"/>
          </a:xfrm>
          <a:prstGeom prst="rect">
            <a:avLst/>
          </a:prstGeom>
          <a:solidFill>
            <a:srgbClr val="FFFFCC"/>
          </a:solidFill>
        </p:spPr>
        <p:txBody>
          <a:bodyPr wrap="square" rtlCol="0">
            <a:spAutoFit/>
          </a:bodyPr>
          <a:lstStyle/>
          <a:p>
            <a:r>
              <a:rPr kumimoji="1" lang="ja-JP" altLang="en-US" sz="1400" dirty="0"/>
              <a:t>   加工食品</a:t>
            </a:r>
          </a:p>
        </p:txBody>
      </p:sp>
      <p:sp>
        <p:nvSpPr>
          <p:cNvPr id="10" name="テキスト ボックス 9">
            <a:extLst>
              <a:ext uri="{FF2B5EF4-FFF2-40B4-BE49-F238E27FC236}">
                <a16:creationId xmlns:a16="http://schemas.microsoft.com/office/drawing/2014/main" id="{A80E638C-7BF5-287E-2303-A23068AE1B4E}"/>
              </a:ext>
            </a:extLst>
          </p:cNvPr>
          <p:cNvSpPr txBox="1"/>
          <p:nvPr/>
        </p:nvSpPr>
        <p:spPr>
          <a:xfrm>
            <a:off x="122763" y="3244336"/>
            <a:ext cx="1524001" cy="307777"/>
          </a:xfrm>
          <a:prstGeom prst="rect">
            <a:avLst/>
          </a:prstGeom>
          <a:solidFill>
            <a:srgbClr val="FFFFCC"/>
          </a:solidFill>
        </p:spPr>
        <p:txBody>
          <a:bodyPr wrap="square" rtlCol="0">
            <a:spAutoFit/>
          </a:bodyPr>
          <a:lstStyle/>
          <a:p>
            <a:r>
              <a:rPr kumimoji="1" lang="ja-JP" altLang="en-US" sz="1400" dirty="0"/>
              <a:t>   スナック類</a:t>
            </a:r>
          </a:p>
        </p:txBody>
      </p:sp>
      <p:sp>
        <p:nvSpPr>
          <p:cNvPr id="11" name="テキスト ボックス 10">
            <a:extLst>
              <a:ext uri="{FF2B5EF4-FFF2-40B4-BE49-F238E27FC236}">
                <a16:creationId xmlns:a16="http://schemas.microsoft.com/office/drawing/2014/main" id="{9B9011D7-F785-91B2-4967-A3E5C5C94210}"/>
              </a:ext>
            </a:extLst>
          </p:cNvPr>
          <p:cNvSpPr txBox="1"/>
          <p:nvPr/>
        </p:nvSpPr>
        <p:spPr>
          <a:xfrm>
            <a:off x="122762" y="3628158"/>
            <a:ext cx="1524001" cy="307777"/>
          </a:xfrm>
          <a:prstGeom prst="rect">
            <a:avLst/>
          </a:prstGeom>
          <a:solidFill>
            <a:srgbClr val="FFFFCC"/>
          </a:solidFill>
        </p:spPr>
        <p:txBody>
          <a:bodyPr wrap="square" rtlCol="0">
            <a:spAutoFit/>
          </a:bodyPr>
          <a:lstStyle/>
          <a:p>
            <a:r>
              <a:rPr kumimoji="1" lang="ja-JP" altLang="en-US" sz="1400" dirty="0"/>
              <a:t>   酒類</a:t>
            </a:r>
          </a:p>
        </p:txBody>
      </p:sp>
      <p:sp>
        <p:nvSpPr>
          <p:cNvPr id="12" name="テキスト ボックス 11">
            <a:extLst>
              <a:ext uri="{FF2B5EF4-FFF2-40B4-BE49-F238E27FC236}">
                <a16:creationId xmlns:a16="http://schemas.microsoft.com/office/drawing/2014/main" id="{6F94215A-2844-9CB3-063E-3A6CDEDC5139}"/>
              </a:ext>
            </a:extLst>
          </p:cNvPr>
          <p:cNvSpPr txBox="1"/>
          <p:nvPr/>
        </p:nvSpPr>
        <p:spPr>
          <a:xfrm>
            <a:off x="122761" y="4023270"/>
            <a:ext cx="1524001" cy="307777"/>
          </a:xfrm>
          <a:prstGeom prst="rect">
            <a:avLst/>
          </a:prstGeom>
          <a:solidFill>
            <a:srgbClr val="FFFFCC"/>
          </a:solidFill>
        </p:spPr>
        <p:txBody>
          <a:bodyPr wrap="square" rtlCol="0">
            <a:spAutoFit/>
          </a:bodyPr>
          <a:lstStyle/>
          <a:p>
            <a:r>
              <a:rPr kumimoji="1" lang="ja-JP" altLang="en-US" sz="1400" dirty="0"/>
              <a:t>   日用品</a:t>
            </a:r>
          </a:p>
        </p:txBody>
      </p:sp>
      <p:graphicFrame>
        <p:nvGraphicFramePr>
          <p:cNvPr id="13" name="表 12">
            <a:extLst>
              <a:ext uri="{FF2B5EF4-FFF2-40B4-BE49-F238E27FC236}">
                <a16:creationId xmlns:a16="http://schemas.microsoft.com/office/drawing/2014/main" id="{A9B1253C-8D22-4B97-1D53-1D03BF61C1E5}"/>
              </a:ext>
            </a:extLst>
          </p:cNvPr>
          <p:cNvGraphicFramePr>
            <a:graphicFrameLocks noGrp="1"/>
          </p:cNvGraphicFramePr>
          <p:nvPr>
            <p:extLst>
              <p:ext uri="{D42A27DB-BD31-4B8C-83A1-F6EECF244321}">
                <p14:modId xmlns:p14="http://schemas.microsoft.com/office/powerpoint/2010/main" val="79980655"/>
              </p:ext>
            </p:extLst>
          </p:nvPr>
        </p:nvGraphicFramePr>
        <p:xfrm>
          <a:off x="1820325" y="2087314"/>
          <a:ext cx="10295474" cy="3230880"/>
        </p:xfrm>
        <a:graphic>
          <a:graphicData uri="http://schemas.openxmlformats.org/drawingml/2006/table">
            <a:tbl>
              <a:tblPr firstRow="1" bandRow="1">
                <a:tableStyleId>{5C22544A-7EE6-4342-B048-85BDC9FD1C3A}</a:tableStyleId>
              </a:tblPr>
              <a:tblGrid>
                <a:gridCol w="1226996">
                  <a:extLst>
                    <a:ext uri="{9D8B030D-6E8A-4147-A177-3AD203B41FA5}">
                      <a16:colId xmlns:a16="http://schemas.microsoft.com/office/drawing/2014/main" val="1916399395"/>
                    </a:ext>
                  </a:extLst>
                </a:gridCol>
                <a:gridCol w="1774205">
                  <a:extLst>
                    <a:ext uri="{9D8B030D-6E8A-4147-A177-3AD203B41FA5}">
                      <a16:colId xmlns:a16="http://schemas.microsoft.com/office/drawing/2014/main" val="3051711574"/>
                    </a:ext>
                  </a:extLst>
                </a:gridCol>
                <a:gridCol w="1927933">
                  <a:extLst>
                    <a:ext uri="{9D8B030D-6E8A-4147-A177-3AD203B41FA5}">
                      <a16:colId xmlns:a16="http://schemas.microsoft.com/office/drawing/2014/main" val="198543963"/>
                    </a:ext>
                  </a:extLst>
                </a:gridCol>
                <a:gridCol w="1073268">
                  <a:extLst>
                    <a:ext uri="{9D8B030D-6E8A-4147-A177-3AD203B41FA5}">
                      <a16:colId xmlns:a16="http://schemas.microsoft.com/office/drawing/2014/main" val="3025695672"/>
                    </a:ext>
                  </a:extLst>
                </a:gridCol>
                <a:gridCol w="1073268">
                  <a:extLst>
                    <a:ext uri="{9D8B030D-6E8A-4147-A177-3AD203B41FA5}">
                      <a16:colId xmlns:a16="http://schemas.microsoft.com/office/drawing/2014/main" val="1890537754"/>
                    </a:ext>
                  </a:extLst>
                </a:gridCol>
                <a:gridCol w="1073268">
                  <a:extLst>
                    <a:ext uri="{9D8B030D-6E8A-4147-A177-3AD203B41FA5}">
                      <a16:colId xmlns:a16="http://schemas.microsoft.com/office/drawing/2014/main" val="3578107011"/>
                    </a:ext>
                  </a:extLst>
                </a:gridCol>
                <a:gridCol w="1073268">
                  <a:extLst>
                    <a:ext uri="{9D8B030D-6E8A-4147-A177-3AD203B41FA5}">
                      <a16:colId xmlns:a16="http://schemas.microsoft.com/office/drawing/2014/main" val="2362439015"/>
                    </a:ext>
                  </a:extLst>
                </a:gridCol>
                <a:gridCol w="1073268">
                  <a:extLst>
                    <a:ext uri="{9D8B030D-6E8A-4147-A177-3AD203B41FA5}">
                      <a16:colId xmlns:a16="http://schemas.microsoft.com/office/drawing/2014/main" val="3790590298"/>
                    </a:ext>
                  </a:extLst>
                </a:gridCol>
              </a:tblGrid>
              <a:tr h="249034">
                <a:tc>
                  <a:txBody>
                    <a:bodyPr/>
                    <a:lstStyle/>
                    <a:p>
                      <a:pPr algn="ctr"/>
                      <a:r>
                        <a:rPr kumimoji="1" lang="ja-JP" altLang="en-US" sz="1400" b="1" dirty="0">
                          <a:solidFill>
                            <a:schemeClr val="tx1"/>
                          </a:solidFill>
                        </a:rPr>
                        <a:t>商品コード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商品名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商品写真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入荷処理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出荷処理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返品処理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1" dirty="0">
                          <a:solidFill>
                            <a:schemeClr val="tx1"/>
                          </a:solidFill>
                        </a:rPr>
                        <a:t>店舗間／倉庫間</a:t>
                      </a:r>
                      <a:endParaRPr kumimoji="1" lang="en-US" altLang="ja-JP" sz="1000" b="1" dirty="0">
                        <a:solidFill>
                          <a:schemeClr val="tx1"/>
                        </a:solidFill>
                      </a:endParaRPr>
                    </a:p>
                    <a:p>
                      <a:pPr algn="ctr"/>
                      <a:r>
                        <a:rPr kumimoji="1" lang="ja-JP" altLang="en-US" sz="1000" b="1" dirty="0">
                          <a:solidFill>
                            <a:schemeClr val="tx1"/>
                          </a:solidFill>
                        </a:rPr>
                        <a:t>の在庫移動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1" dirty="0">
                          <a:solidFill>
                            <a:schemeClr val="tx1"/>
                          </a:solidFill>
                        </a:rPr>
                        <a:t>廃棄処理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58105"/>
                  </a:ext>
                </a:extLst>
              </a:tr>
              <a:tr h="367592">
                <a:tc>
                  <a:txBody>
                    <a:bodyPr/>
                    <a:lstStyle/>
                    <a:p>
                      <a:pPr algn="ctr"/>
                      <a:r>
                        <a:rPr kumimoji="1" lang="en-US" altLang="ja-JP" sz="1400" dirty="0"/>
                        <a:t>A00123</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dirty="0">
                          <a:solidFill>
                            <a:schemeClr val="tx1"/>
                          </a:solidFill>
                        </a:rPr>
                        <a:t>有機トマト（国産）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ja-JP"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u="sng" dirty="0">
                          <a:solidFill>
                            <a:srgbClr val="FF0000"/>
                          </a:solidFill>
                        </a:rPr>
                        <a:t>入荷処理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出荷処理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u="sng" dirty="0">
                          <a:solidFill>
                            <a:srgbClr val="FF0000"/>
                          </a:solidFill>
                        </a:rPr>
                        <a:t>返品処理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u="sng" dirty="0">
                          <a:solidFill>
                            <a:srgbClr val="FF0000"/>
                          </a:solidFill>
                        </a:rPr>
                        <a:t>在庫移動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u="sng" dirty="0">
                          <a:solidFill>
                            <a:srgbClr val="FF0000"/>
                          </a:solidFill>
                        </a:rPr>
                        <a:t>廃棄処理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293397336"/>
                  </a:ext>
                </a:extLst>
              </a:tr>
              <a:tr h="460633">
                <a:tc>
                  <a:txBody>
                    <a:bodyPr/>
                    <a:lstStyle/>
                    <a:p>
                      <a:pPr algn="ctr"/>
                      <a:r>
                        <a:rPr kumimoji="1" lang="en-US" altLang="ja-JP" sz="1400" dirty="0"/>
                        <a:t>A000124</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0" dirty="0">
                          <a:solidFill>
                            <a:schemeClr val="tx1"/>
                          </a:solidFill>
                        </a:rPr>
                        <a:t>きゅうり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400" b="0" u="sng" dirty="0">
                          <a:solidFill>
                            <a:srgbClr val="FF0000"/>
                          </a:solidFill>
                        </a:rPr>
                        <a:t>入荷処理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出荷処理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返品処理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在庫移動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廃棄処理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9234568"/>
                  </a:ext>
                </a:extLst>
              </a:tr>
              <a:tr h="460633">
                <a:tc>
                  <a:txBody>
                    <a:bodyPr/>
                    <a:lstStyle/>
                    <a:p>
                      <a:pPr algn="ctr"/>
                      <a:r>
                        <a:rPr kumimoji="1" lang="en-US" altLang="ja-JP" sz="1400" dirty="0"/>
                        <a:t>A000125</a:t>
                      </a:r>
                      <a:endParaRPr kumimoji="1" lang="ja-JP"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dirty="0">
                          <a:solidFill>
                            <a:schemeClr val="tx1"/>
                          </a:solidFill>
                        </a:rPr>
                        <a:t>キャベツ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en-US" altLang="ja-JP" sz="1400" b="0" dirty="0">
                        <a:solidFill>
                          <a:schemeClr val="tx1"/>
                        </a:solidFill>
                      </a:endParaRPr>
                    </a:p>
                    <a:p>
                      <a:pPr algn="ctr"/>
                      <a:endParaRPr kumimoji="1" lang="ja-JP"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algn="ctr"/>
                      <a:r>
                        <a:rPr kumimoji="1" lang="ja-JP" altLang="en-US" sz="1400" b="0" u="sng" dirty="0">
                          <a:solidFill>
                            <a:srgbClr val="FF0000"/>
                          </a:solidFill>
                        </a:rPr>
                        <a:t>入荷処理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出荷処理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返品処理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在庫移動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u="sng" dirty="0">
                          <a:solidFill>
                            <a:srgbClr val="FF0000"/>
                          </a:solidFill>
                        </a:rPr>
                        <a:t>廃棄処理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196180925"/>
                  </a:ext>
                </a:extLst>
              </a:tr>
            </a:tbl>
          </a:graphicData>
        </a:graphic>
      </p:graphicFrame>
      <p:pic>
        <p:nvPicPr>
          <p:cNvPr id="15" name="図 14">
            <a:extLst>
              <a:ext uri="{FF2B5EF4-FFF2-40B4-BE49-F238E27FC236}">
                <a16:creationId xmlns:a16="http://schemas.microsoft.com/office/drawing/2014/main" id="{A6056C33-3C76-6FD8-26C0-B79412FEB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7887" y="2492291"/>
            <a:ext cx="905933" cy="905933"/>
          </a:xfrm>
          <a:prstGeom prst="rect">
            <a:avLst/>
          </a:prstGeom>
        </p:spPr>
      </p:pic>
      <p:pic>
        <p:nvPicPr>
          <p:cNvPr id="16" name="図 15">
            <a:extLst>
              <a:ext uri="{FF2B5EF4-FFF2-40B4-BE49-F238E27FC236}">
                <a16:creationId xmlns:a16="http://schemas.microsoft.com/office/drawing/2014/main" id="{1B8A251E-6A75-33F6-F621-27DE8AA44355}"/>
              </a:ext>
            </a:extLst>
          </p:cNvPr>
          <p:cNvPicPr>
            <a:picLocks noChangeAspect="1"/>
          </p:cNvPicPr>
          <p:nvPr/>
        </p:nvPicPr>
        <p:blipFill>
          <a:blip r:embed="rId3">
            <a:extLst>
              <a:ext uri="{28A0092B-C50C-407E-A947-70E740481C1C}">
                <a14:useLocalDpi xmlns:a14="http://schemas.microsoft.com/office/drawing/2010/main" val="0"/>
              </a:ext>
            </a:extLst>
          </a:blip>
          <a:srcRect l="25181" t="513" r="25406"/>
          <a:stretch>
            <a:fillRect/>
          </a:stretch>
        </p:blipFill>
        <p:spPr>
          <a:xfrm rot="16200000">
            <a:off x="5456661" y="3239797"/>
            <a:ext cx="615456" cy="1240087"/>
          </a:xfrm>
          <a:prstGeom prst="rect">
            <a:avLst/>
          </a:prstGeom>
        </p:spPr>
      </p:pic>
      <p:pic>
        <p:nvPicPr>
          <p:cNvPr id="17" name="図 16">
            <a:extLst>
              <a:ext uri="{FF2B5EF4-FFF2-40B4-BE49-F238E27FC236}">
                <a16:creationId xmlns:a16="http://schemas.microsoft.com/office/drawing/2014/main" id="{DDD5F8AB-7596-56F7-C0BA-277F47A9B3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7887" y="4429154"/>
            <a:ext cx="938862" cy="867736"/>
          </a:xfrm>
          <a:prstGeom prst="rect">
            <a:avLst/>
          </a:prstGeom>
        </p:spPr>
      </p:pic>
      <p:sp>
        <p:nvSpPr>
          <p:cNvPr id="18" name="テキスト ボックス 17">
            <a:extLst>
              <a:ext uri="{FF2B5EF4-FFF2-40B4-BE49-F238E27FC236}">
                <a16:creationId xmlns:a16="http://schemas.microsoft.com/office/drawing/2014/main" id="{042C2661-6F0E-5F43-AD02-790437C3DF98}"/>
              </a:ext>
            </a:extLst>
          </p:cNvPr>
          <p:cNvSpPr txBox="1"/>
          <p:nvPr/>
        </p:nvSpPr>
        <p:spPr>
          <a:xfrm>
            <a:off x="1773761" y="1307925"/>
            <a:ext cx="1771419" cy="369332"/>
          </a:xfrm>
          <a:prstGeom prst="rect">
            <a:avLst/>
          </a:prstGeom>
          <a:noFill/>
        </p:spPr>
        <p:txBody>
          <a:bodyPr wrap="square" rtlCol="0">
            <a:spAutoFit/>
          </a:bodyPr>
          <a:lstStyle/>
          <a:p>
            <a:r>
              <a:rPr kumimoji="1" lang="ja-JP" altLang="en-US" b="1" dirty="0"/>
              <a:t>■商品一覧■</a:t>
            </a:r>
          </a:p>
        </p:txBody>
      </p:sp>
      <p:sp>
        <p:nvSpPr>
          <p:cNvPr id="19" name="テキスト ボックス 18">
            <a:extLst>
              <a:ext uri="{FF2B5EF4-FFF2-40B4-BE49-F238E27FC236}">
                <a16:creationId xmlns:a16="http://schemas.microsoft.com/office/drawing/2014/main" id="{1E92F8D4-1B7B-6F1B-EAB6-38BA52439F4F}"/>
              </a:ext>
            </a:extLst>
          </p:cNvPr>
          <p:cNvSpPr txBox="1"/>
          <p:nvPr/>
        </p:nvSpPr>
        <p:spPr>
          <a:xfrm>
            <a:off x="1993898" y="1643449"/>
            <a:ext cx="10075336" cy="338554"/>
          </a:xfrm>
          <a:prstGeom prst="rect">
            <a:avLst/>
          </a:prstGeom>
          <a:solidFill>
            <a:srgbClr val="FFFFCC"/>
          </a:solidFill>
        </p:spPr>
        <p:txBody>
          <a:bodyPr wrap="square" rtlCol="0">
            <a:spAutoFit/>
          </a:bodyPr>
          <a:lstStyle/>
          <a:p>
            <a:r>
              <a:rPr kumimoji="1" lang="ja-JP" altLang="en-US" sz="1600" b="1" dirty="0"/>
              <a:t>野菜類</a:t>
            </a:r>
            <a:endParaRPr kumimoji="1" lang="ja-JP" altLang="en-US" b="1" dirty="0"/>
          </a:p>
        </p:txBody>
      </p:sp>
      <p:sp>
        <p:nvSpPr>
          <p:cNvPr id="20" name="テキスト ボックス 19">
            <a:extLst>
              <a:ext uri="{FF2B5EF4-FFF2-40B4-BE49-F238E27FC236}">
                <a16:creationId xmlns:a16="http://schemas.microsoft.com/office/drawing/2014/main" id="{25970492-8F8D-54A0-02E4-E407C27C7059}"/>
              </a:ext>
            </a:extLst>
          </p:cNvPr>
          <p:cNvSpPr txBox="1"/>
          <p:nvPr/>
        </p:nvSpPr>
        <p:spPr>
          <a:xfrm>
            <a:off x="8519820" y="1338702"/>
            <a:ext cx="2353733" cy="307777"/>
          </a:xfrm>
          <a:prstGeom prst="rect">
            <a:avLst/>
          </a:prstGeom>
          <a:noFill/>
        </p:spPr>
        <p:txBody>
          <a:bodyPr wrap="square" rtlCol="0">
            <a:spAutoFit/>
          </a:bodyPr>
          <a:lstStyle/>
          <a:p>
            <a:r>
              <a:rPr kumimoji="1" lang="ja-JP" altLang="en-US" sz="1400" dirty="0"/>
              <a:t>検索</a:t>
            </a:r>
          </a:p>
        </p:txBody>
      </p:sp>
      <p:sp>
        <p:nvSpPr>
          <p:cNvPr id="21" name="正方形/長方形 20">
            <a:extLst>
              <a:ext uri="{FF2B5EF4-FFF2-40B4-BE49-F238E27FC236}">
                <a16:creationId xmlns:a16="http://schemas.microsoft.com/office/drawing/2014/main" id="{59070B80-B18A-E384-7936-9D3A6ACC2D3F}"/>
              </a:ext>
            </a:extLst>
          </p:cNvPr>
          <p:cNvSpPr/>
          <p:nvPr/>
        </p:nvSpPr>
        <p:spPr>
          <a:xfrm>
            <a:off x="9111170" y="1279337"/>
            <a:ext cx="2958063" cy="343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069E8BDC-BE29-F8F3-2862-57D04C81451C}"/>
              </a:ext>
            </a:extLst>
          </p:cNvPr>
          <p:cNvSpPr txBox="1"/>
          <p:nvPr/>
        </p:nvSpPr>
        <p:spPr>
          <a:xfrm>
            <a:off x="1879600" y="728133"/>
            <a:ext cx="5596467" cy="369332"/>
          </a:xfrm>
          <a:prstGeom prst="rect">
            <a:avLst/>
          </a:prstGeom>
          <a:noFill/>
        </p:spPr>
        <p:txBody>
          <a:bodyPr wrap="square" rtlCol="0">
            <a:spAutoFit/>
          </a:bodyPr>
          <a:lstStyle/>
          <a:p>
            <a:r>
              <a:rPr kumimoji="1" lang="ja-JP" altLang="en-US" b="1" u="sng" dirty="0">
                <a:solidFill>
                  <a:srgbClr val="FF0000"/>
                </a:solidFill>
              </a:rPr>
              <a:t>バーコード／</a:t>
            </a:r>
            <a:r>
              <a:rPr kumimoji="1" lang="en-US" altLang="ja-JP" b="1" u="sng" dirty="0">
                <a:solidFill>
                  <a:srgbClr val="FF0000"/>
                </a:solidFill>
              </a:rPr>
              <a:t>QR</a:t>
            </a:r>
            <a:r>
              <a:rPr kumimoji="1" lang="ja-JP" altLang="en-US" b="1" u="sng" dirty="0">
                <a:solidFill>
                  <a:srgbClr val="FF0000"/>
                </a:solidFill>
              </a:rPr>
              <a:t>コード読み取りはこちら</a:t>
            </a:r>
          </a:p>
        </p:txBody>
      </p:sp>
      <p:sp>
        <p:nvSpPr>
          <p:cNvPr id="23" name="テキスト ボックス 22">
            <a:extLst>
              <a:ext uri="{FF2B5EF4-FFF2-40B4-BE49-F238E27FC236}">
                <a16:creationId xmlns:a16="http://schemas.microsoft.com/office/drawing/2014/main" id="{B22D7340-4B74-A754-DE5E-47CF43DA1235}"/>
              </a:ext>
            </a:extLst>
          </p:cNvPr>
          <p:cNvSpPr txBox="1"/>
          <p:nvPr/>
        </p:nvSpPr>
        <p:spPr>
          <a:xfrm>
            <a:off x="1993897" y="5791313"/>
            <a:ext cx="10075336" cy="338554"/>
          </a:xfrm>
          <a:prstGeom prst="rect">
            <a:avLst/>
          </a:prstGeom>
          <a:solidFill>
            <a:srgbClr val="FFFFCC"/>
          </a:solidFill>
        </p:spPr>
        <p:txBody>
          <a:bodyPr wrap="square" rtlCol="0">
            <a:spAutoFit/>
          </a:bodyPr>
          <a:lstStyle/>
          <a:p>
            <a:r>
              <a:rPr kumimoji="1" lang="ja-JP" altLang="en-US" sz="1600" b="1" dirty="0"/>
              <a:t>肉類</a:t>
            </a:r>
            <a:endParaRPr kumimoji="1" lang="ja-JP" altLang="en-US" b="1" dirty="0"/>
          </a:p>
        </p:txBody>
      </p:sp>
    </p:spTree>
    <p:extLst>
      <p:ext uri="{BB962C8B-B14F-4D97-AF65-F5344CB8AC3E}">
        <p14:creationId xmlns:p14="http://schemas.microsoft.com/office/powerpoint/2010/main" val="88523058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307</Words>
  <Application>Microsoft Office PowerPoint</Application>
  <PresentationFormat>ワイド画面</PresentationFormat>
  <Paragraphs>199</Paragraphs>
  <Slides>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vt:i4>
      </vt:variant>
    </vt:vector>
  </HeadingPairs>
  <TitlesOfParts>
    <vt:vector size="8" baseType="lpstr">
      <vt:lpstr>BIZ UDゴシック</vt:lpstr>
      <vt:lpstr>游ゴシック</vt:lpstr>
      <vt:lpstr>游ゴシック Light</vt:lpstr>
      <vt:lpstr>Arial</vt:lpstr>
      <vt:lpstr>Office テーマ</vt:lpstr>
      <vt:lpstr>メインメニュー</vt:lpstr>
      <vt:lpstr>発注管理</vt:lpstr>
      <vt:lpstr>入出庫管理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大塚 二葉</dc:creator>
  <cp:lastModifiedBy>大塚 二葉</cp:lastModifiedBy>
  <cp:revision>3</cp:revision>
  <dcterms:created xsi:type="dcterms:W3CDTF">2026-05-07T03:00:52Z</dcterms:created>
  <dcterms:modified xsi:type="dcterms:W3CDTF">2026-05-07T06:26:22Z</dcterms:modified>
</cp:coreProperties>
</file>